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본편에서 다 못 다룬 레버를 심화한다. 각 레버는 '켜는 조건'과 '깨지는 조건'이 한 쌍이다.</a:t>
            </a:r>
          </a:p>
          <a:p>
            <a:r>
              <a:t>심화 세션이므로 숫자의 가정(모델 단가·토큰 수)을 슬라이드마다 확인한다.</a:t>
            </a:r>
          </a:p>
          <a:p>
            <a:r>
              <a:t>마지막에 우선순위와 보안 주의로 정리한다.</a:t>
            </a:r>
          </a:p>
          <a:p>
            <a:r>
              <a:t>근거: docs/CORRECTIONS.md</a:t>
            </a:r>
          </a:p>
          <a:p>
            <a:r>
              <a:t>증거 범위: 심화 세션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고정 20,000 + 가변 1,000 + 출력 1,500, Sonnet 단가, 100콜 조건의 계산이다.</a:t>
            </a:r>
          </a:p>
          <a:p>
            <a:r>
              <a:t>히트율은 가정값이다. 실제 값은 자기 usage의 cache_read 필드로 측정해야 한다.</a:t>
            </a:r>
          </a:p>
          <a:p>
            <a:r>
              <a:t>저장료·TTL·최소 길이는 모델별로 다르다. 미확인 기준은 할인 가정을 하지 않는다.</a:t>
            </a:r>
          </a:p>
          <a:p>
            <a:r>
              <a:t>근거: experiments/exp03_prompt_caching.py</a:t>
            </a:r>
          </a:p>
          <a:p>
            <a:r>
              <a:t>증거 범위: 비용 시나리오 (100콜)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캐시는 프리픽스를 단위로 매칭한다. 앞부분이 한 글자만 달라도 전액을 다시 낸다.</a:t>
            </a:r>
          </a:p>
          <a:p>
            <a:r>
              <a:t>히트율 0%에서는 쓰기 프리미엄만 계속 물어 캐시 없음($8.55)보다 비싸진다($10.05).</a:t>
            </a:r>
          </a:p>
          <a:p>
            <a:r>
              <a:t>반대로 히트율이 40%만 넘어도 이미 이득이다. 그래서 '켜고, 적중률을 본다'가 순서다.</a:t>
            </a:r>
          </a:p>
          <a:p>
            <a:r>
              <a:t>근거: experiments/exp03_prompt_caching.py</a:t>
            </a:r>
          </a:p>
          <a:p>
            <a:r>
              <a:t>증거 범위: 비용 시나리오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고정 20,000 + 가변 1,000 + 출력 1,500, Sonnet 단가, 100콜 조건의 계산이다.</a:t>
            </a:r>
          </a:p>
          <a:p>
            <a:r>
              <a:t>히트율은 가정값이다. 실제 값은 자기 usage의 cache_read 필드로 측정한다.</a:t>
            </a:r>
          </a:p>
          <a:p>
            <a:r>
              <a:t>저장료·TTL·최소 길이는 모델별로 다르다. 미확인 기준은 할인 가정을 하지 않는다.</a:t>
            </a:r>
          </a:p>
          <a:p>
            <a:r>
              <a:t>근거: experiments/exp03_prompt_caching.py</a:t>
            </a:r>
          </a:p>
          <a:p>
            <a:r>
              <a:t>증거 범위: 비용 시나리오 (100콜)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같은 12,000토큰을 매번 보내던 세션을 절반으로 줄이고 캐시까지 걸었을 때의 산술이다.</a:t>
            </a:r>
          </a:p>
          <a:p>
            <a:r>
              <a:t>압축률과 정확도는 작업별로 다르다. 지시·수용 기준을 지우면 요구사항이 바뀐다.</a:t>
            </a:r>
          </a:p>
          <a:p>
            <a:r>
              <a:t>압축기 실행 비용과 지연도 손익에 포함해야 한다. 짧은 프롬프트는 압축이 손해일 수 있다.</a:t>
            </a:r>
          </a:p>
          <a:p>
            <a:r>
              <a:t>압축 자체의 지연·품질 손실은 이 계산 밖이다.</a:t>
            </a:r>
          </a:p>
          <a:p>
            <a:r>
              <a:t>근거: experiments/exp09_dry.py</a:t>
            </a:r>
          </a:p>
          <a:p>
            <a:r>
              <a:t>증거 범위: 비용 시나리오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20턴 세션에 캐싱만 걸면 $1.91(+17%) — 이력 누적은 그대로 남기 때문이다.</a:t>
            </a:r>
          </a:p>
          <a:p>
            <a:r>
              <a:t>요약은 품질에 영향을 준다. 압축 과정에서 잃는 정보가 재작업을 만들면 절감이 상쇄된다.</a:t>
            </a:r>
          </a:p>
          <a:p>
            <a:r>
              <a:t>주기를 바꿔 가며 재작업률과 총비용을 함께 측정할 것을 권한다.</a:t>
            </a:r>
          </a:p>
          <a:p>
            <a:r>
              <a:t>근거: experiments/exp04_agent_loop_sdd.py</a:t>
            </a:r>
          </a:p>
          <a:p>
            <a:r>
              <a:t>증거 범위: 비용 시나리오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같은 툴 작업량을 가정하고 메인·자식·요약 비용을 모두 합산한 값이다.</a:t>
            </a:r>
          </a:p>
          <a:p>
            <a:r>
              <a:t>서브에이전트는 요약 품질과 실패·재시도 특성이 다르다. 비용만으로 우열을 단정하지 않는다.</a:t>
            </a:r>
          </a:p>
          <a:p>
            <a:r>
              <a:t>과거의 -87%는 자식·요약을 빼고 계산한 값이어서 전체 절감으로 쓰지 않는다.</a:t>
            </a:r>
          </a:p>
          <a:p>
            <a:r>
              <a:t>근거: experiments/exp11_tool_output_bloat.py</a:t>
            </a:r>
          </a:p>
          <a:p>
            <a:r>
              <a:t>증거 범위: 전체 시스템 비용 시나리오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벤치마크에서 잡은 임계값을 그대로 프로덕션에 쓰면 절감이 과대 추정된다.</a:t>
            </a:r>
          </a:p>
          <a:p>
            <a:r>
              <a:t>저볼륨에서는 라우팅 오버헤드가 절감을 상쇄한다. 반복률과 볼륨을 먼저 본다.</a:t>
            </a:r>
          </a:p>
          <a:p>
            <a:r>
              <a:t>라우터 오류율·검출률은 이 저장소에서 측정하지 않았다. 참조 구현의 회귀 테스트만 있다.</a:t>
            </a:r>
          </a:p>
          <a:p>
            <a:r>
              <a:t>근거: experiments/exp06_other_levers.py</a:t>
            </a:r>
          </a:p>
          <a:p>
            <a:r>
              <a:t>증거 범위: 시나리오 (10,000콜)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토큰 수는 그대로이고 지원 서비스에서 가격을 줄이는 레버다.</a:t>
            </a:r>
          </a:p>
          <a:p>
            <a:r>
              <a:t>실시간 UI, 대화형 코딩 에이전트처럼 대기 화면이 있는 작업에는 쓸 수 없다.</a:t>
            </a:r>
          </a:p>
          <a:p>
            <a:r>
              <a:t>지연·실패 처리·지원 조건(요청 수 상한, 결과 보관 기간)을 확인해야 한다.</a:t>
            </a:r>
          </a:p>
          <a:p>
            <a:r>
              <a:t>근거: experiments/exp06_other_levers.py</a:t>
            </a:r>
          </a:p>
          <a:p>
            <a:r>
              <a:t>증거 범위: 가격표 + 시나리오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각 레버의 절감률을 순서대로 곱한 값이다. 실제 도입에서는 서로 겹치는 부분이 생긴다.</a:t>
            </a:r>
          </a:p>
          <a:p>
            <a:r>
              <a:t>검증된 상한도 아니다. 자기 데이터로 A/B를 돌려 확정해야 한다.</a:t>
            </a:r>
          </a:p>
          <a:p>
            <a:r>
              <a:t>레버별 적용 조건(히트율·라우팅 임계값·배치 가능성)이 다르다.</a:t>
            </a:r>
          </a:p>
          <a:p>
            <a:r>
              <a:t>근거: experiments/exp06_other_levers.py</a:t>
            </a:r>
          </a:p>
          <a:p>
            <a:r>
              <a:t>증거 범위: 순차 시나리오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비교는 자동(-1) 대 미지정이다. 명시적 0과 섞으면 결론이 달라진다.</a:t>
            </a:r>
          </a:p>
          <a:p>
            <a:r>
              <a:t>±$0.05 허용오차 통과는 미지정 6/6 · 명시적 0은 5/6이다. 정확한 숫자 채점으로는 3/6이 된다 — 동등성 증명이 아니다.</a:t>
            </a:r>
          </a:p>
          <a:p>
            <a:r>
              <a:t>구모델의 thinkingBudget 로그는 역사적 관측으로 보존한다. 현재 API는 thinkingLevel을 쓴다.</a:t>
            </a:r>
          </a:p>
          <a:p>
            <a:r>
              <a:t>근거: results/thinking_sweep.jsonl (30 rows)</a:t>
            </a:r>
          </a:p>
          <a:p>
            <a:r>
              <a:t>증거 범위: 저장 API 로그 재계산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호출당 비용과 문자당 비용은 다른 질문에 대한 답이다. 하나로 다른 것을 대신하지 않는다.</a:t>
            </a:r>
          </a:p>
          <a:p>
            <a:r>
              <a:t>'한국어가 일을 덜 했다'거나 '싸 보이는 착시'로 해석하지 않는다.</a:t>
            </a:r>
          </a:p>
          <a:p>
            <a:r>
              <a:t>검정은 Welch로 계산했고 네 비교 모두 유의하다. 다만 반복 호출의 조건부 검정이며 의미량·정확도 검정이 아니다.</a:t>
            </a:r>
          </a:p>
          <a:p>
            <a:r>
              <a:t>근거: tools/stats_test.py · storage logs</a:t>
            </a:r>
          </a:p>
          <a:p>
            <a:r>
              <a:t>증거 범위: 저장 로그 80행 재계산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캐시는 비용 레버이면서 데이터 보존 문제다. 개인정보가 섞인 접두부는 캐싱 대상에서 뺀다.</a:t>
            </a:r>
          </a:p>
          <a:p>
            <a:r>
              <a:t>시맨틱 캐시는 질의가 비슷할 때 호출 자체를 제거한다. 히트율보다 오답 위험이 먼저다.</a:t>
            </a:r>
          </a:p>
          <a:p>
            <a:r>
              <a:t>TTL과 삭제 시점을 벤더 문서 기준으로 확인하고 기록해 둔다.</a:t>
            </a:r>
          </a:p>
          <a:p>
            <a:r>
              <a:t>근거: experiments/exp06_other_levers.py</a:t>
            </a:r>
          </a:p>
          <a:p>
            <a:r>
              <a:t>증거 범위: 운영 주의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오늘 배운 것을 다 적용하지 말고 되돌리기 쉬운 것 하나만 켜고 재측정한다.</a:t>
            </a:r>
          </a:p>
          <a:p>
            <a:r>
              <a:t>절감률은 자기 데이터에서 나온 값이어야 한다. 이 자료의 숫자는 출발점이다.</a:t>
            </a:r>
          </a:p>
          <a:p>
            <a:r>
              <a:t>발표 자료의 근거·한계·정정 이력은 저장소 문서에 그대로 남아 있다.</a:t>
            </a:r>
          </a:p>
          <a:p>
            <a:r>
              <a:t>근거: github.com/giyeop-cody/token-cost-lab</a:t>
            </a:r>
          </a:p>
          <a:p>
            <a:r>
              <a:t>증거 범위: 마무리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141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0584" cy="6858000"/>
          </a:xfrm>
          <a:prstGeom prst="rect">
            <a:avLst/>
          </a:prstGeom>
          <a:solidFill>
            <a:srgbClr val="36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audit:index"/>
          <p:cNvSpPr txBox="1"/>
          <p:nvPr/>
        </p:nvSpPr>
        <p:spPr>
          <a:xfrm>
            <a:off x="640080" y="274320"/>
            <a:ext cx="45720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93A4B5"/>
                </a:solidFill>
                <a:latin typeface="NanumGothic"/>
                <a:ea typeface="NanumGothic"/>
                <a:cs typeface="NanumGothic"/>
              </a:rPr>
              <a:t>TOKEN COST LAB  /  01</a:t>
            </a:r>
          </a:p>
        </p:txBody>
      </p:sp>
      <p:sp>
        <p:nvSpPr>
          <p:cNvPr id="4" name="audit:scope"/>
          <p:cNvSpPr txBox="1"/>
          <p:nvPr/>
        </p:nvSpPr>
        <p:spPr>
          <a:xfrm>
            <a:off x="5760720" y="274320"/>
            <a:ext cx="57607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36D399"/>
                </a:solidFill>
                <a:latin typeface="NanumGothic"/>
                <a:ea typeface="NanumGothic"/>
                <a:cs typeface="NanumGothic"/>
              </a:rPr>
              <a:t>심화 세션</a:t>
            </a:r>
          </a:p>
        </p:txBody>
      </p:sp>
      <p:sp>
        <p:nvSpPr>
          <p:cNvPr id="5" name="audit:title"/>
          <p:cNvSpPr txBox="1"/>
          <p:nvPr/>
        </p:nvSpPr>
        <p:spPr>
          <a:xfrm>
            <a:off x="640080" y="822960"/>
            <a:ext cx="1088136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900" b="1">
                <a:solidFill>
                  <a:srgbClr val="ECF1F6"/>
                </a:solidFill>
                <a:latin typeface="NanumGothic"/>
                <a:ea typeface="NanumGothic"/>
                <a:cs typeface="NanumGothic"/>
              </a:rPr>
              <a:t>견적서의 나머지 항목</a:t>
            </a:r>
          </a:p>
        </p:txBody>
      </p:sp>
      <p:sp>
        <p:nvSpPr>
          <p:cNvPr id="6" name="audit:hero"/>
          <p:cNvSpPr txBox="1"/>
          <p:nvPr/>
        </p:nvSpPr>
        <p:spPr>
          <a:xfrm>
            <a:off x="640080" y="1783080"/>
            <a:ext cx="10881360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900" b="1">
                <a:solidFill>
                  <a:srgbClr val="36D399"/>
                </a:solidFill>
                <a:latin typeface="NanumGothic"/>
                <a:ea typeface="NanumGothic"/>
                <a:cs typeface="NanumGothic"/>
              </a:rPr>
              <a:t>원칙 5개로 다 못 줄인 비용은 어디 있나</a:t>
            </a:r>
          </a:p>
        </p:txBody>
      </p:sp>
      <p:sp>
        <p:nvSpPr>
          <p:cNvPr id="7" name="audit:body-0"/>
          <p:cNvSpPr txBox="1"/>
          <p:nvPr/>
        </p:nvSpPr>
        <p:spPr>
          <a:xfrm>
            <a:off x="777240" y="2862072"/>
            <a:ext cx="10652760" cy="6126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750" b="0">
                <a:solidFill>
                  <a:srgbClr val="ECF1F6"/>
                </a:solidFill>
                <a:latin typeface="NanumGothic"/>
                <a:ea typeface="NanumGothic"/>
                <a:cs typeface="NanumGothic"/>
              </a:rPr>
              <a:t>캐싱 · 압축 · 컴팩션 · 서브에이전트 · 라우팅 · 배치</a:t>
            </a:r>
          </a:p>
        </p:txBody>
      </p:sp>
      <p:sp>
        <p:nvSpPr>
          <p:cNvPr id="8" name="audit:body-1"/>
          <p:cNvSpPr txBox="1"/>
          <p:nvPr/>
        </p:nvSpPr>
        <p:spPr>
          <a:xfrm>
            <a:off x="777240" y="3502152"/>
            <a:ext cx="10652760" cy="6126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750" b="0">
                <a:solidFill>
                  <a:srgbClr val="ECF1F6"/>
                </a:solidFill>
                <a:latin typeface="NanumGothic"/>
                <a:ea typeface="NanumGothic"/>
                <a:cs typeface="NanumGothic"/>
              </a:rPr>
              <a:t>각 레버의 조건과 함정을 한 장씩 본다</a:t>
            </a:r>
          </a:p>
        </p:txBody>
      </p:sp>
      <p:sp>
        <p:nvSpPr>
          <p:cNvPr id="9" name="audit:body-2"/>
          <p:cNvSpPr txBox="1"/>
          <p:nvPr/>
        </p:nvSpPr>
        <p:spPr>
          <a:xfrm>
            <a:off x="777240" y="4142231"/>
            <a:ext cx="10652760" cy="6126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750" b="0">
                <a:solidFill>
                  <a:srgbClr val="ECF1F6"/>
                </a:solidFill>
                <a:latin typeface="NanumGothic"/>
                <a:ea typeface="NanumGothic"/>
                <a:cs typeface="NanumGothic"/>
              </a:rPr>
              <a:t>레버는 곱해진다 — 우선순위는 뒤에서</a:t>
            </a:r>
          </a:p>
        </p:txBody>
      </p:sp>
      <p:sp>
        <p:nvSpPr>
          <p:cNvPr id="10" name="audit:source"/>
          <p:cNvSpPr txBox="1"/>
          <p:nvPr/>
        </p:nvSpPr>
        <p:spPr>
          <a:xfrm>
            <a:off x="640080" y="6080760"/>
            <a:ext cx="10972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93A4B5"/>
                </a:solidFill>
                <a:latin typeface="NanumGothic"/>
                <a:ea typeface="NanumGothic"/>
                <a:cs typeface="NanumGothic"/>
              </a:rPr>
              <a:t>docs/CORRECTIONS.md</a:t>
            </a:r>
          </a:p>
        </p:txBody>
      </p:sp>
      <p:sp>
        <p:nvSpPr>
          <p:cNvPr id="11" name="audit:footer"/>
          <p:cNvSpPr txBox="1"/>
          <p:nvPr/>
        </p:nvSpPr>
        <p:spPr>
          <a:xfrm>
            <a:off x="640080" y="6419088"/>
            <a:ext cx="1097280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93A4B5"/>
                </a:solidFill>
                <a:latin typeface="NanumGothic"/>
                <a:ea typeface="NanumGothic"/>
                <a:cs typeface="NanumGothic"/>
              </a:rPr>
              <a:t>2026-09-20  ·  근거와 조건을 함께 인용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141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0584" cy="6858000"/>
          </a:xfrm>
          <a:prstGeom prst="rect">
            <a:avLst/>
          </a:prstGeom>
          <a:solidFill>
            <a:srgbClr val="36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audit:index"/>
          <p:cNvSpPr txBox="1"/>
          <p:nvPr/>
        </p:nvSpPr>
        <p:spPr>
          <a:xfrm>
            <a:off x="640080" y="274320"/>
            <a:ext cx="45720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93A4B5"/>
                </a:solidFill>
                <a:latin typeface="NanumGothic"/>
                <a:ea typeface="NanumGothic"/>
                <a:cs typeface="NanumGothic"/>
              </a:rPr>
              <a:t>TOKEN COST LAB  /  02</a:t>
            </a:r>
          </a:p>
        </p:txBody>
      </p:sp>
      <p:sp>
        <p:nvSpPr>
          <p:cNvPr id="4" name="audit:scope"/>
          <p:cNvSpPr txBox="1"/>
          <p:nvPr/>
        </p:nvSpPr>
        <p:spPr>
          <a:xfrm>
            <a:off x="5760720" y="274320"/>
            <a:ext cx="57607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36D399"/>
                </a:solidFill>
                <a:latin typeface="NanumGothic"/>
                <a:ea typeface="NanumGothic"/>
                <a:cs typeface="NanumGothic"/>
              </a:rPr>
              <a:t>비용 시나리오 (100콜)</a:t>
            </a:r>
          </a:p>
        </p:txBody>
      </p:sp>
      <p:sp>
        <p:nvSpPr>
          <p:cNvPr id="5" name="audit:title"/>
          <p:cNvSpPr txBox="1"/>
          <p:nvPr/>
        </p:nvSpPr>
        <p:spPr>
          <a:xfrm>
            <a:off x="640080" y="822960"/>
            <a:ext cx="1088136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900" b="1">
                <a:solidFill>
                  <a:srgbClr val="ECF1F6"/>
                </a:solidFill>
                <a:latin typeface="NanumGothic"/>
                <a:ea typeface="NanumGothic"/>
                <a:cs typeface="NanumGothic"/>
              </a:rPr>
              <a:t>캐싱 · 오늘 바로 켤 수 있는 레버</a:t>
            </a:r>
          </a:p>
        </p:txBody>
      </p:sp>
      <p:sp>
        <p:nvSpPr>
          <p:cNvPr id="6" name="audit:hero"/>
          <p:cNvSpPr txBox="1"/>
          <p:nvPr/>
        </p:nvSpPr>
        <p:spPr>
          <a:xfrm>
            <a:off x="640080" y="1783080"/>
            <a:ext cx="10881360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900" b="1">
                <a:solidFill>
                  <a:srgbClr val="36D399"/>
                </a:solidFill>
                <a:latin typeface="NanumGothic"/>
                <a:ea typeface="NanumGothic"/>
                <a:cs typeface="NanumGothic"/>
              </a:rPr>
              <a:t>$8.55 → $3.22 (62.4% 절감)</a:t>
            </a:r>
          </a:p>
        </p:txBody>
      </p:sp>
      <p:sp>
        <p:nvSpPr>
          <p:cNvPr id="7" name="audit:body-0"/>
          <p:cNvSpPr txBox="1"/>
          <p:nvPr/>
        </p:nvSpPr>
        <p:spPr>
          <a:xfrm>
            <a:off x="777240" y="2862072"/>
            <a:ext cx="10652760" cy="6126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750" b="0">
                <a:solidFill>
                  <a:srgbClr val="ECF1F6"/>
                </a:solidFill>
                <a:latin typeface="NanumGothic"/>
                <a:ea typeface="NanumGothic"/>
                <a:cs typeface="NanumGothic"/>
              </a:rPr>
              <a:t>쓰기 프리미엄은 두 번째 호출에서 회수된다</a:t>
            </a:r>
          </a:p>
        </p:txBody>
      </p:sp>
      <p:sp>
        <p:nvSpPr>
          <p:cNvPr id="8" name="audit:body-1"/>
          <p:cNvSpPr txBox="1"/>
          <p:nvPr/>
        </p:nvSpPr>
        <p:spPr>
          <a:xfrm>
            <a:off x="777240" y="3502152"/>
            <a:ext cx="10652760" cy="6126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750" b="0">
                <a:solidFill>
                  <a:srgbClr val="ECF1F6"/>
                </a:solidFill>
                <a:latin typeface="NanumGothic"/>
                <a:ea typeface="NanumGothic"/>
                <a:cs typeface="NanumGothic"/>
              </a:rPr>
              <a:t>고정 블록(시스템 · 툴 정의 · 규약)을 맨 앞으로 모은다</a:t>
            </a:r>
          </a:p>
        </p:txBody>
      </p:sp>
      <p:sp>
        <p:nvSpPr>
          <p:cNvPr id="9" name="audit:body-2"/>
          <p:cNvSpPr txBox="1"/>
          <p:nvPr/>
        </p:nvSpPr>
        <p:spPr>
          <a:xfrm>
            <a:off x="777240" y="4142231"/>
            <a:ext cx="10652760" cy="6126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750" b="0">
                <a:solidFill>
                  <a:srgbClr val="ECF1F6"/>
                </a:solidFill>
                <a:latin typeface="NanumGothic"/>
                <a:ea typeface="NanumGothic"/>
                <a:cs typeface="NanumGothic"/>
              </a:rPr>
              <a:t>최소 길이를 확인한다 — Haiku 4.5는 4,096토큰</a:t>
            </a:r>
          </a:p>
        </p:txBody>
      </p:sp>
      <p:sp>
        <p:nvSpPr>
          <p:cNvPr id="10" name="audit:source"/>
          <p:cNvSpPr txBox="1"/>
          <p:nvPr/>
        </p:nvSpPr>
        <p:spPr>
          <a:xfrm>
            <a:off x="640080" y="6080760"/>
            <a:ext cx="10972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93A4B5"/>
                </a:solidFill>
                <a:latin typeface="NanumGothic"/>
                <a:ea typeface="NanumGothic"/>
                <a:cs typeface="NanumGothic"/>
              </a:rPr>
              <a:t>experiments/exp03_prompt_caching.py</a:t>
            </a:r>
          </a:p>
        </p:txBody>
      </p:sp>
      <p:sp>
        <p:nvSpPr>
          <p:cNvPr id="11" name="audit:footer"/>
          <p:cNvSpPr txBox="1"/>
          <p:nvPr/>
        </p:nvSpPr>
        <p:spPr>
          <a:xfrm>
            <a:off x="640080" y="6419088"/>
            <a:ext cx="1097280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93A4B5"/>
                </a:solidFill>
                <a:latin typeface="NanumGothic"/>
                <a:ea typeface="NanumGothic"/>
                <a:cs typeface="NanumGothic"/>
              </a:rPr>
              <a:t>2026-09-20  ·  근거와 조건을 함께 인용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141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0584" cy="6858000"/>
          </a:xfrm>
          <a:prstGeom prst="rect">
            <a:avLst/>
          </a:prstGeom>
          <a:solidFill>
            <a:srgbClr val="36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audit:index"/>
          <p:cNvSpPr txBox="1"/>
          <p:nvPr/>
        </p:nvSpPr>
        <p:spPr>
          <a:xfrm>
            <a:off x="640080" y="274320"/>
            <a:ext cx="45720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93A4B5"/>
                </a:solidFill>
                <a:latin typeface="NanumGothic"/>
                <a:ea typeface="NanumGothic"/>
                <a:cs typeface="NanumGothic"/>
              </a:rPr>
              <a:t>TOKEN COST LAB  /  03</a:t>
            </a:r>
          </a:p>
        </p:txBody>
      </p:sp>
      <p:sp>
        <p:nvSpPr>
          <p:cNvPr id="4" name="audit:scope"/>
          <p:cNvSpPr txBox="1"/>
          <p:nvPr/>
        </p:nvSpPr>
        <p:spPr>
          <a:xfrm>
            <a:off x="5760720" y="274320"/>
            <a:ext cx="57607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36D399"/>
                </a:solidFill>
                <a:latin typeface="NanumGothic"/>
                <a:ea typeface="NanumGothic"/>
                <a:cs typeface="NanumGothic"/>
              </a:rPr>
              <a:t>비용 시나리오</a:t>
            </a:r>
          </a:p>
        </p:txBody>
      </p:sp>
      <p:sp>
        <p:nvSpPr>
          <p:cNvPr id="5" name="audit:title"/>
          <p:cNvSpPr txBox="1"/>
          <p:nvPr/>
        </p:nvSpPr>
        <p:spPr>
          <a:xfrm>
            <a:off x="640080" y="822960"/>
            <a:ext cx="1088136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900" b="1">
                <a:solidFill>
                  <a:srgbClr val="ECF1F6"/>
                </a:solidFill>
                <a:latin typeface="NanumGothic"/>
                <a:ea typeface="NanumGothic"/>
                <a:cs typeface="NanumGothic"/>
              </a:rPr>
              <a:t>캐시를 깨는 한 줄</a:t>
            </a:r>
          </a:p>
        </p:txBody>
      </p:sp>
      <p:sp>
        <p:nvSpPr>
          <p:cNvPr id="6" name="audit:hero"/>
          <p:cNvSpPr txBox="1"/>
          <p:nvPr/>
        </p:nvSpPr>
        <p:spPr>
          <a:xfrm>
            <a:off x="640080" y="1783080"/>
            <a:ext cx="10881360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900" b="1">
                <a:solidFill>
                  <a:srgbClr val="36D399"/>
                </a:solidFill>
                <a:latin typeface="NanumGothic"/>
                <a:ea typeface="NanumGothic"/>
                <a:cs typeface="NanumGothic"/>
              </a:rPr>
              <a:t>$10.05 (17.5% 더 지출)</a:t>
            </a:r>
          </a:p>
        </p:txBody>
      </p:sp>
      <p:sp>
        <p:nvSpPr>
          <p:cNvPr id="7" name="audit:body-0"/>
          <p:cNvSpPr txBox="1"/>
          <p:nvPr/>
        </p:nvSpPr>
        <p:spPr>
          <a:xfrm>
            <a:off x="777240" y="2862072"/>
            <a:ext cx="10652760" cy="6126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750" b="0">
                <a:solidFill>
                  <a:srgbClr val="ECF1F6"/>
                </a:solidFill>
                <a:latin typeface="NanumGothic"/>
                <a:ea typeface="NanumGothic"/>
                <a:cs typeface="NanumGothic"/>
              </a:rPr>
              <a:t>맨 앞의 타임스탬프·요청 ID는 매번 미스로 만든다</a:t>
            </a:r>
          </a:p>
        </p:txBody>
      </p:sp>
      <p:sp>
        <p:nvSpPr>
          <p:cNvPr id="8" name="audit:body-1"/>
          <p:cNvSpPr txBox="1"/>
          <p:nvPr/>
        </p:nvSpPr>
        <p:spPr>
          <a:xfrm>
            <a:off x="777240" y="3502152"/>
            <a:ext cx="10652760" cy="6126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750" b="0">
                <a:solidFill>
                  <a:srgbClr val="ECF1F6"/>
                </a:solidFill>
                <a:latin typeface="NanumGothic"/>
                <a:ea typeface="NanumGothic"/>
                <a:cs typeface="NanumGothic"/>
              </a:rPr>
              <a:t>변하는 값은 반드시 뒤로 보낸다</a:t>
            </a:r>
          </a:p>
        </p:txBody>
      </p:sp>
      <p:sp>
        <p:nvSpPr>
          <p:cNvPr id="9" name="audit:body-2"/>
          <p:cNvSpPr txBox="1"/>
          <p:nvPr/>
        </p:nvSpPr>
        <p:spPr>
          <a:xfrm>
            <a:off x="777240" y="4142231"/>
            <a:ext cx="10652760" cy="6126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750" b="0">
                <a:solidFill>
                  <a:srgbClr val="ECF1F6"/>
                </a:solidFill>
                <a:latin typeface="NanumGothic"/>
                <a:ea typeface="NanumGothic"/>
                <a:cs typeface="NanumGothic"/>
              </a:rPr>
              <a:t>미스 상태의 캐싱은 안 쓰느니만 못하다</a:t>
            </a:r>
          </a:p>
        </p:txBody>
      </p:sp>
      <p:sp>
        <p:nvSpPr>
          <p:cNvPr id="10" name="audit:source"/>
          <p:cNvSpPr txBox="1"/>
          <p:nvPr/>
        </p:nvSpPr>
        <p:spPr>
          <a:xfrm>
            <a:off x="640080" y="6080760"/>
            <a:ext cx="10972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93A4B5"/>
                </a:solidFill>
                <a:latin typeface="NanumGothic"/>
                <a:ea typeface="NanumGothic"/>
                <a:cs typeface="NanumGothic"/>
              </a:rPr>
              <a:t>experiments/exp03_prompt_caching.py</a:t>
            </a:r>
          </a:p>
        </p:txBody>
      </p:sp>
      <p:sp>
        <p:nvSpPr>
          <p:cNvPr id="11" name="audit:footer"/>
          <p:cNvSpPr txBox="1"/>
          <p:nvPr/>
        </p:nvSpPr>
        <p:spPr>
          <a:xfrm>
            <a:off x="640080" y="6419088"/>
            <a:ext cx="1097280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93A4B5"/>
                </a:solidFill>
                <a:latin typeface="NanumGothic"/>
                <a:ea typeface="NanumGothic"/>
                <a:cs typeface="NanumGothic"/>
              </a:rPr>
              <a:t>2026-09-20  ·  근거와 조건을 함께 인용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141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0584" cy="6858000"/>
          </a:xfrm>
          <a:prstGeom prst="rect">
            <a:avLst/>
          </a:prstGeom>
          <a:solidFill>
            <a:srgbClr val="36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audit:index"/>
          <p:cNvSpPr txBox="1"/>
          <p:nvPr/>
        </p:nvSpPr>
        <p:spPr>
          <a:xfrm>
            <a:off x="640080" y="274320"/>
            <a:ext cx="45720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93A4B5"/>
                </a:solidFill>
                <a:latin typeface="NanumGothic"/>
                <a:ea typeface="NanumGothic"/>
                <a:cs typeface="NanumGothic"/>
              </a:rPr>
              <a:t>TOKEN COST LAB  /  04</a:t>
            </a:r>
          </a:p>
        </p:txBody>
      </p:sp>
      <p:sp>
        <p:nvSpPr>
          <p:cNvPr id="4" name="audit:scope"/>
          <p:cNvSpPr txBox="1"/>
          <p:nvPr/>
        </p:nvSpPr>
        <p:spPr>
          <a:xfrm>
            <a:off x="5760720" y="274320"/>
            <a:ext cx="57607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36D399"/>
                </a:solidFill>
                <a:latin typeface="NanumGothic"/>
                <a:ea typeface="NanumGothic"/>
                <a:cs typeface="NanumGothic"/>
              </a:rPr>
              <a:t>비용 시나리오 (100콜)</a:t>
            </a:r>
          </a:p>
        </p:txBody>
      </p:sp>
      <p:sp>
        <p:nvSpPr>
          <p:cNvPr id="5" name="audit:title"/>
          <p:cNvSpPr txBox="1"/>
          <p:nvPr/>
        </p:nvSpPr>
        <p:spPr>
          <a:xfrm>
            <a:off x="640080" y="566928"/>
            <a:ext cx="1088136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900" b="1">
                <a:solidFill>
                  <a:srgbClr val="ECF1F6"/>
                </a:solidFill>
                <a:latin typeface="NanumGothic"/>
                <a:ea typeface="NanumGothic"/>
                <a:cs typeface="NanumGothic"/>
              </a:rPr>
              <a:t>캐시는 조건이 맞을 때만 이득</a:t>
            </a:r>
          </a:p>
        </p:txBody>
      </p:sp>
      <p:sp>
        <p:nvSpPr>
          <p:cNvPr id="6" name="audit:hero"/>
          <p:cNvSpPr txBox="1"/>
          <p:nvPr/>
        </p:nvSpPr>
        <p:spPr>
          <a:xfrm>
            <a:off x="640080" y="1261872"/>
            <a:ext cx="10881360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900" b="1">
                <a:solidFill>
                  <a:srgbClr val="36D399"/>
                </a:solidFill>
                <a:latin typeface="NanumGothic"/>
                <a:ea typeface="NanumGothic"/>
                <a:cs typeface="NanumGothic"/>
              </a:rPr>
              <a:t>$8.55 → $3.219 (-62%)</a:t>
            </a:r>
          </a:p>
        </p:txBody>
      </p:sp>
      <p:sp>
        <p:nvSpPr>
          <p:cNvPr id="7" name="audit:body-0"/>
          <p:cNvSpPr txBox="1"/>
          <p:nvPr/>
        </p:nvSpPr>
        <p:spPr>
          <a:xfrm>
            <a:off x="777240" y="2029968"/>
            <a:ext cx="10652760" cy="6126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750" b="0">
                <a:solidFill>
                  <a:srgbClr val="ECF1F6"/>
                </a:solidFill>
                <a:latin typeface="NanumGothic"/>
                <a:ea typeface="NanumGothic"/>
                <a:cs typeface="NanumGothic"/>
              </a:rPr>
              <a:t>프리픽스를 매번 바꾸면 $10.05 (+17.5%)</a:t>
            </a:r>
          </a:p>
        </p:txBody>
      </p:sp>
      <p:sp>
        <p:nvSpPr>
          <p:cNvPr id="8" name="audit:body-1"/>
          <p:cNvSpPr txBox="1"/>
          <p:nvPr/>
        </p:nvSpPr>
        <p:spPr>
          <a:xfrm>
            <a:off x="777240" y="2542032"/>
            <a:ext cx="10652760" cy="6126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750" b="0">
                <a:solidFill>
                  <a:srgbClr val="ECF1F6"/>
                </a:solidFill>
                <a:latin typeface="NanumGothic"/>
                <a:ea typeface="NanumGothic"/>
                <a:cs typeface="NanumGothic"/>
              </a:rPr>
              <a:t>고정 블록을 앞으로 모아 적중률을 올린다</a:t>
            </a:r>
          </a:p>
        </p:txBody>
      </p:sp>
      <p:pic>
        <p:nvPicPr>
          <p:cNvPr id="9" name="Picture 8" descr="cach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40" y="3101593"/>
            <a:ext cx="10652760" cy="2959100"/>
          </a:xfrm>
          <a:prstGeom prst="rect">
            <a:avLst/>
          </a:prstGeom>
        </p:spPr>
      </p:pic>
      <p:sp>
        <p:nvSpPr>
          <p:cNvPr id="10" name="audit:chart-caption"/>
          <p:cNvSpPr txBox="1"/>
          <p:nvPr/>
        </p:nvSpPr>
        <p:spPr>
          <a:xfrm>
            <a:off x="777240" y="6135624"/>
            <a:ext cx="10652760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50" b="0">
                <a:solidFill>
                  <a:srgbClr val="93A4B5"/>
                </a:solidFill>
                <a:latin typeface="NanumGothic"/>
                <a:ea typeface="NanumGothic"/>
                <a:cs typeface="NanumGothic"/>
              </a:rPr>
              <a:t>그래프 · 100콜 비용 (USD) · cache.png</a:t>
            </a:r>
          </a:p>
        </p:txBody>
      </p:sp>
      <p:sp>
        <p:nvSpPr>
          <p:cNvPr id="11" name="audit:source"/>
          <p:cNvSpPr txBox="1"/>
          <p:nvPr/>
        </p:nvSpPr>
        <p:spPr>
          <a:xfrm>
            <a:off x="777240" y="6382512"/>
            <a:ext cx="10972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93A4B5"/>
                </a:solidFill>
                <a:latin typeface="NanumGothic"/>
                <a:ea typeface="NanumGothic"/>
                <a:cs typeface="NanumGothic"/>
              </a:rPr>
              <a:t>experiments/exp03_prompt_caching.py</a:t>
            </a:r>
          </a:p>
        </p:txBody>
      </p:sp>
      <p:sp>
        <p:nvSpPr>
          <p:cNvPr id="12" name="audit:footer"/>
          <p:cNvSpPr txBox="1"/>
          <p:nvPr/>
        </p:nvSpPr>
        <p:spPr>
          <a:xfrm>
            <a:off x="777240" y="6583680"/>
            <a:ext cx="1097280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93A4B5"/>
                </a:solidFill>
                <a:latin typeface="NanumGothic"/>
                <a:ea typeface="NanumGothic"/>
                <a:cs typeface="NanumGothic"/>
              </a:rPr>
              <a:t>2026-09-20  ·  근거와 조건을 함께 인용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141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0584" cy="6858000"/>
          </a:xfrm>
          <a:prstGeom prst="rect">
            <a:avLst/>
          </a:prstGeom>
          <a:solidFill>
            <a:srgbClr val="36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audit:index"/>
          <p:cNvSpPr txBox="1"/>
          <p:nvPr/>
        </p:nvSpPr>
        <p:spPr>
          <a:xfrm>
            <a:off x="640080" y="274320"/>
            <a:ext cx="45720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93A4B5"/>
                </a:solidFill>
                <a:latin typeface="NanumGothic"/>
                <a:ea typeface="NanumGothic"/>
                <a:cs typeface="NanumGothic"/>
              </a:rPr>
              <a:t>TOKEN COST LAB  /  05</a:t>
            </a:r>
          </a:p>
        </p:txBody>
      </p:sp>
      <p:sp>
        <p:nvSpPr>
          <p:cNvPr id="4" name="audit:scope"/>
          <p:cNvSpPr txBox="1"/>
          <p:nvPr/>
        </p:nvSpPr>
        <p:spPr>
          <a:xfrm>
            <a:off x="5760720" y="274320"/>
            <a:ext cx="57607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36D399"/>
                </a:solidFill>
                <a:latin typeface="NanumGothic"/>
                <a:ea typeface="NanumGothic"/>
                <a:cs typeface="NanumGothic"/>
              </a:rPr>
              <a:t>비용 시나리오</a:t>
            </a:r>
          </a:p>
        </p:txBody>
      </p:sp>
      <p:sp>
        <p:nvSpPr>
          <p:cNvPr id="5" name="audit:title"/>
          <p:cNvSpPr txBox="1"/>
          <p:nvPr/>
        </p:nvSpPr>
        <p:spPr>
          <a:xfrm>
            <a:off x="640080" y="822960"/>
            <a:ext cx="1088136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900" b="1">
                <a:solidFill>
                  <a:srgbClr val="ECF1F6"/>
                </a:solidFill>
                <a:latin typeface="NanumGothic"/>
                <a:ea typeface="NanumGothic"/>
                <a:cs typeface="NanumGothic"/>
              </a:rPr>
              <a:t>압축과 캐싱은 대체재가 아니다</a:t>
            </a:r>
          </a:p>
        </p:txBody>
      </p:sp>
      <p:sp>
        <p:nvSpPr>
          <p:cNvPr id="6" name="audit:hero"/>
          <p:cNvSpPr txBox="1"/>
          <p:nvPr/>
        </p:nvSpPr>
        <p:spPr>
          <a:xfrm>
            <a:off x="640080" y="1783080"/>
            <a:ext cx="10881360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900" b="1">
                <a:solidFill>
                  <a:srgbClr val="36D399"/>
                </a:solidFill>
                <a:latin typeface="NanumGothic"/>
                <a:ea typeface="NanumGothic"/>
                <a:cs typeface="NanumGothic"/>
              </a:rPr>
              <a:t>$0.4014 → $0.2007 (94% 절감)</a:t>
            </a:r>
          </a:p>
        </p:txBody>
      </p:sp>
      <p:sp>
        <p:nvSpPr>
          <p:cNvPr id="7" name="audit:body-0"/>
          <p:cNvSpPr txBox="1"/>
          <p:nvPr/>
        </p:nvSpPr>
        <p:spPr>
          <a:xfrm>
            <a:off x="777240" y="2862072"/>
            <a:ext cx="10652760" cy="6126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750" b="0">
                <a:solidFill>
                  <a:srgbClr val="ECF1F6"/>
                </a:solidFill>
                <a:latin typeface="NanumGothic"/>
                <a:ea typeface="NanumGothic"/>
                <a:cs typeface="NanumGothic"/>
              </a:rPr>
              <a:t>그냥 캐싱 $0.4014 vs 절반 요약 $1.8000</a:t>
            </a:r>
          </a:p>
        </p:txBody>
      </p:sp>
      <p:sp>
        <p:nvSpPr>
          <p:cNvPr id="8" name="audit:body-1"/>
          <p:cNvSpPr txBox="1"/>
          <p:nvPr/>
        </p:nvSpPr>
        <p:spPr>
          <a:xfrm>
            <a:off x="777240" y="3502152"/>
            <a:ext cx="10652760" cy="6126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750" b="0">
                <a:solidFill>
                  <a:srgbClr val="ECF1F6"/>
                </a:solidFill>
                <a:latin typeface="NanumGothic"/>
                <a:ea typeface="NanumGothic"/>
                <a:cs typeface="NanumGothic"/>
              </a:rPr>
              <a:t>지울 수 있는 반복은 지우고, 지울 수 없는 반복은 고정해 캐시에 태운다</a:t>
            </a:r>
          </a:p>
        </p:txBody>
      </p:sp>
      <p:sp>
        <p:nvSpPr>
          <p:cNvPr id="9" name="audit:body-2"/>
          <p:cNvSpPr txBox="1"/>
          <p:nvPr/>
        </p:nvSpPr>
        <p:spPr>
          <a:xfrm>
            <a:off x="777240" y="4142231"/>
            <a:ext cx="10652760" cy="6126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750" b="0">
                <a:solidFill>
                  <a:srgbClr val="ECF1F6"/>
                </a:solidFill>
                <a:latin typeface="NanumGothic"/>
                <a:ea typeface="NanumGothic"/>
                <a:cs typeface="NanumGothic"/>
              </a:rPr>
              <a:t>압축률이 높을수록 조합의 이득도 커진다</a:t>
            </a:r>
          </a:p>
        </p:txBody>
      </p:sp>
      <p:sp>
        <p:nvSpPr>
          <p:cNvPr id="10" name="audit:source"/>
          <p:cNvSpPr txBox="1"/>
          <p:nvPr/>
        </p:nvSpPr>
        <p:spPr>
          <a:xfrm>
            <a:off x="640080" y="6080760"/>
            <a:ext cx="10972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93A4B5"/>
                </a:solidFill>
                <a:latin typeface="NanumGothic"/>
                <a:ea typeface="NanumGothic"/>
                <a:cs typeface="NanumGothic"/>
              </a:rPr>
              <a:t>experiments/exp09_dry.py</a:t>
            </a:r>
          </a:p>
        </p:txBody>
      </p:sp>
      <p:sp>
        <p:nvSpPr>
          <p:cNvPr id="11" name="audit:footer"/>
          <p:cNvSpPr txBox="1"/>
          <p:nvPr/>
        </p:nvSpPr>
        <p:spPr>
          <a:xfrm>
            <a:off x="640080" y="6419088"/>
            <a:ext cx="1097280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93A4B5"/>
                </a:solidFill>
                <a:latin typeface="NanumGothic"/>
                <a:ea typeface="NanumGothic"/>
                <a:cs typeface="NanumGothic"/>
              </a:rPr>
              <a:t>2026-09-20  ·  근거와 조건을 함께 인용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141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0584" cy="6858000"/>
          </a:xfrm>
          <a:prstGeom prst="rect">
            <a:avLst/>
          </a:prstGeom>
          <a:solidFill>
            <a:srgbClr val="36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audit:index"/>
          <p:cNvSpPr txBox="1"/>
          <p:nvPr/>
        </p:nvSpPr>
        <p:spPr>
          <a:xfrm>
            <a:off x="640080" y="274320"/>
            <a:ext cx="45720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93A4B5"/>
                </a:solidFill>
                <a:latin typeface="NanumGothic"/>
                <a:ea typeface="NanumGothic"/>
                <a:cs typeface="NanumGothic"/>
              </a:rPr>
              <a:t>TOKEN COST LAB  /  06</a:t>
            </a:r>
          </a:p>
        </p:txBody>
      </p:sp>
      <p:sp>
        <p:nvSpPr>
          <p:cNvPr id="4" name="audit:scope"/>
          <p:cNvSpPr txBox="1"/>
          <p:nvPr/>
        </p:nvSpPr>
        <p:spPr>
          <a:xfrm>
            <a:off x="5760720" y="274320"/>
            <a:ext cx="57607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36D399"/>
                </a:solidFill>
                <a:latin typeface="NanumGothic"/>
                <a:ea typeface="NanumGothic"/>
                <a:cs typeface="NanumGothic"/>
              </a:rPr>
              <a:t>비용 시나리오</a:t>
            </a:r>
          </a:p>
        </p:txBody>
      </p:sp>
      <p:sp>
        <p:nvSpPr>
          <p:cNvPr id="5" name="audit:title"/>
          <p:cNvSpPr txBox="1"/>
          <p:nvPr/>
        </p:nvSpPr>
        <p:spPr>
          <a:xfrm>
            <a:off x="640080" y="822960"/>
            <a:ext cx="1088136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900" b="1">
                <a:solidFill>
                  <a:srgbClr val="ECF1F6"/>
                </a:solidFill>
                <a:latin typeface="NanumGothic"/>
                <a:ea typeface="NanumGothic"/>
                <a:cs typeface="NanumGothic"/>
              </a:rPr>
              <a:t>긴 세션은 컴팩션으로 접는다</a:t>
            </a:r>
          </a:p>
        </p:txBody>
      </p:sp>
      <p:sp>
        <p:nvSpPr>
          <p:cNvPr id="6" name="audit:hero"/>
          <p:cNvSpPr txBox="1"/>
          <p:nvPr/>
        </p:nvSpPr>
        <p:spPr>
          <a:xfrm>
            <a:off x="640080" y="1783080"/>
            <a:ext cx="10881360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900" b="1">
                <a:solidFill>
                  <a:srgbClr val="36D399"/>
                </a:solidFill>
                <a:latin typeface="NanumGothic"/>
                <a:ea typeface="NanumGothic"/>
                <a:cs typeface="NanumGothic"/>
              </a:rPr>
              <a:t>$2.32 → $0.93 (60% 절감)</a:t>
            </a:r>
          </a:p>
        </p:txBody>
      </p:sp>
      <p:sp>
        <p:nvSpPr>
          <p:cNvPr id="7" name="audit:body-0"/>
          <p:cNvSpPr txBox="1"/>
          <p:nvPr/>
        </p:nvSpPr>
        <p:spPr>
          <a:xfrm>
            <a:off x="777240" y="2862072"/>
            <a:ext cx="10652760" cy="6126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750" b="0">
                <a:solidFill>
                  <a:srgbClr val="ECF1F6"/>
                </a:solidFill>
                <a:latin typeface="NanumGothic"/>
                <a:ea typeface="NanumGothic"/>
                <a:cs typeface="NanumGothic"/>
              </a:rPr>
              <a:t>10턴마다 접으면 $1.23 (47% 절감)</a:t>
            </a:r>
          </a:p>
        </p:txBody>
      </p:sp>
      <p:sp>
        <p:nvSpPr>
          <p:cNvPr id="8" name="audit:body-1"/>
          <p:cNvSpPr txBox="1"/>
          <p:nvPr/>
        </p:nvSpPr>
        <p:spPr>
          <a:xfrm>
            <a:off x="777240" y="3502152"/>
            <a:ext cx="10652760" cy="6126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750" b="0">
                <a:solidFill>
                  <a:srgbClr val="ECF1F6"/>
                </a:solidFill>
                <a:latin typeface="NanumGothic"/>
                <a:ea typeface="NanumGothic"/>
                <a:cs typeface="NanumGothic"/>
              </a:rPr>
              <a:t>너무 자주 접으면 요약 호출이 이득을 먹는다</a:t>
            </a:r>
          </a:p>
        </p:txBody>
      </p:sp>
      <p:sp>
        <p:nvSpPr>
          <p:cNvPr id="9" name="audit:body-2"/>
          <p:cNvSpPr txBox="1"/>
          <p:nvPr/>
        </p:nvSpPr>
        <p:spPr>
          <a:xfrm>
            <a:off x="777240" y="4142231"/>
            <a:ext cx="10652760" cy="6126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750" b="0">
                <a:solidFill>
                  <a:srgbClr val="ECF1F6"/>
                </a:solidFill>
                <a:latin typeface="NanumGothic"/>
                <a:ea typeface="NanumGothic"/>
                <a:cs typeface="NanumGothic"/>
              </a:rPr>
              <a:t>최적 주기는 세션 길이와 요약 비용으로 정해진다</a:t>
            </a:r>
          </a:p>
        </p:txBody>
      </p:sp>
      <p:sp>
        <p:nvSpPr>
          <p:cNvPr id="10" name="audit:source"/>
          <p:cNvSpPr txBox="1"/>
          <p:nvPr/>
        </p:nvSpPr>
        <p:spPr>
          <a:xfrm>
            <a:off x="640080" y="6080760"/>
            <a:ext cx="10972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93A4B5"/>
                </a:solidFill>
                <a:latin typeface="NanumGothic"/>
                <a:ea typeface="NanumGothic"/>
                <a:cs typeface="NanumGothic"/>
              </a:rPr>
              <a:t>experiments/exp04_agent_loop_sdd.py</a:t>
            </a:r>
          </a:p>
        </p:txBody>
      </p:sp>
      <p:sp>
        <p:nvSpPr>
          <p:cNvPr id="11" name="audit:footer"/>
          <p:cNvSpPr txBox="1"/>
          <p:nvPr/>
        </p:nvSpPr>
        <p:spPr>
          <a:xfrm>
            <a:off x="640080" y="6419088"/>
            <a:ext cx="1097280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93A4B5"/>
                </a:solidFill>
                <a:latin typeface="NanumGothic"/>
                <a:ea typeface="NanumGothic"/>
                <a:cs typeface="NanumGothic"/>
              </a:rPr>
              <a:t>2026-09-20  ·  근거와 조건을 함께 인용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141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0584" cy="6858000"/>
          </a:xfrm>
          <a:prstGeom prst="rect">
            <a:avLst/>
          </a:prstGeom>
          <a:solidFill>
            <a:srgbClr val="36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audit:index"/>
          <p:cNvSpPr txBox="1"/>
          <p:nvPr/>
        </p:nvSpPr>
        <p:spPr>
          <a:xfrm>
            <a:off x="640080" y="274320"/>
            <a:ext cx="45720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93A4B5"/>
                </a:solidFill>
                <a:latin typeface="NanumGothic"/>
                <a:ea typeface="NanumGothic"/>
                <a:cs typeface="NanumGothic"/>
              </a:rPr>
              <a:t>TOKEN COST LAB  /  07</a:t>
            </a:r>
          </a:p>
        </p:txBody>
      </p:sp>
      <p:sp>
        <p:nvSpPr>
          <p:cNvPr id="4" name="audit:scope"/>
          <p:cNvSpPr txBox="1"/>
          <p:nvPr/>
        </p:nvSpPr>
        <p:spPr>
          <a:xfrm>
            <a:off x="5760720" y="274320"/>
            <a:ext cx="57607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36D399"/>
                </a:solidFill>
                <a:latin typeface="NanumGothic"/>
                <a:ea typeface="NanumGothic"/>
                <a:cs typeface="NanumGothic"/>
              </a:rPr>
              <a:t>전체 시스템 비용 시나리오</a:t>
            </a:r>
          </a:p>
        </p:txBody>
      </p:sp>
      <p:sp>
        <p:nvSpPr>
          <p:cNvPr id="5" name="audit:title"/>
          <p:cNvSpPr txBox="1"/>
          <p:nvPr/>
        </p:nvSpPr>
        <p:spPr>
          <a:xfrm>
            <a:off x="640080" y="822960"/>
            <a:ext cx="1088136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900" b="1">
                <a:solidFill>
                  <a:srgbClr val="ECF1F6"/>
                </a:solidFill>
                <a:latin typeface="NanumGothic"/>
                <a:ea typeface="NanumGothic"/>
                <a:cs typeface="NanumGothic"/>
              </a:rPr>
              <a:t>툴 출력과 서브에이전트는 전체 비용으로 본다</a:t>
            </a:r>
          </a:p>
        </p:txBody>
      </p:sp>
      <p:sp>
        <p:nvSpPr>
          <p:cNvPr id="6" name="audit:hero"/>
          <p:cNvSpPr txBox="1"/>
          <p:nvPr/>
        </p:nvSpPr>
        <p:spPr>
          <a:xfrm>
            <a:off x="640080" y="1783080"/>
            <a:ext cx="10881360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900" b="1">
                <a:solidFill>
                  <a:srgbClr val="36D399"/>
                </a:solidFill>
                <a:latin typeface="NanumGothic"/>
                <a:ea typeface="NanumGothic"/>
                <a:cs typeface="NanumGothic"/>
              </a:rPr>
              <a:t>$5.6010 → $2.7360</a:t>
            </a:r>
          </a:p>
        </p:txBody>
      </p:sp>
      <p:sp>
        <p:nvSpPr>
          <p:cNvPr id="7" name="audit:body-0"/>
          <p:cNvSpPr txBox="1"/>
          <p:nvPr/>
        </p:nvSpPr>
        <p:spPr>
          <a:xfrm>
            <a:off x="777240" y="2862072"/>
            <a:ext cx="10652760" cy="6126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750" b="0">
                <a:solidFill>
                  <a:srgbClr val="ECF1F6"/>
                </a:solidFill>
                <a:latin typeface="NanumGothic"/>
                <a:ea typeface="NanumGothic"/>
                <a:cs typeface="NanumGothic"/>
              </a:rPr>
              <a:t>툴 읽기 누적 전송 1,680,000 토큰 (20턴)</a:t>
            </a:r>
          </a:p>
        </p:txBody>
      </p:sp>
      <p:sp>
        <p:nvSpPr>
          <p:cNvPr id="8" name="audit:body-1"/>
          <p:cNvSpPr txBox="1"/>
          <p:nvPr/>
        </p:nvSpPr>
        <p:spPr>
          <a:xfrm>
            <a:off x="777240" y="3502152"/>
            <a:ext cx="10652760" cy="6126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750" b="0">
                <a:solidFill>
                  <a:srgbClr val="ECF1F6"/>
                </a:solidFill>
                <a:latin typeface="NanumGothic"/>
                <a:ea typeface="NanumGothic"/>
                <a:cs typeface="NanumGothic"/>
              </a:rPr>
              <a:t>컴팩션 $3.4425 · 서브에이전트 $2.736</a:t>
            </a:r>
          </a:p>
        </p:txBody>
      </p:sp>
      <p:sp>
        <p:nvSpPr>
          <p:cNvPr id="9" name="audit:body-2"/>
          <p:cNvSpPr txBox="1"/>
          <p:nvPr/>
        </p:nvSpPr>
        <p:spPr>
          <a:xfrm>
            <a:off x="777240" y="4142231"/>
            <a:ext cx="10652760" cy="6126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750" b="0">
                <a:solidFill>
                  <a:srgbClr val="ECF1F6"/>
                </a:solidFill>
                <a:latin typeface="NanumGothic"/>
                <a:ea typeface="NanumGothic"/>
                <a:cs typeface="NanumGothic"/>
              </a:rPr>
              <a:t>자식 호출·요약 비용까지 포함해 비교한다</a:t>
            </a:r>
          </a:p>
        </p:txBody>
      </p:sp>
      <p:sp>
        <p:nvSpPr>
          <p:cNvPr id="10" name="audit:source"/>
          <p:cNvSpPr txBox="1"/>
          <p:nvPr/>
        </p:nvSpPr>
        <p:spPr>
          <a:xfrm>
            <a:off x="640080" y="6080760"/>
            <a:ext cx="10972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93A4B5"/>
                </a:solidFill>
                <a:latin typeface="NanumGothic"/>
                <a:ea typeface="NanumGothic"/>
                <a:cs typeface="NanumGothic"/>
              </a:rPr>
              <a:t>experiments/exp11_tool_output_bloat.py</a:t>
            </a:r>
          </a:p>
        </p:txBody>
      </p:sp>
      <p:sp>
        <p:nvSpPr>
          <p:cNvPr id="11" name="audit:footer"/>
          <p:cNvSpPr txBox="1"/>
          <p:nvPr/>
        </p:nvSpPr>
        <p:spPr>
          <a:xfrm>
            <a:off x="640080" y="6419088"/>
            <a:ext cx="1097280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93A4B5"/>
                </a:solidFill>
                <a:latin typeface="NanumGothic"/>
                <a:ea typeface="NanumGothic"/>
                <a:cs typeface="NanumGothic"/>
              </a:rPr>
              <a:t>2026-09-20  ·  근거와 조건을 함께 인용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141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0584" cy="6858000"/>
          </a:xfrm>
          <a:prstGeom prst="rect">
            <a:avLst/>
          </a:prstGeom>
          <a:solidFill>
            <a:srgbClr val="36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audit:index"/>
          <p:cNvSpPr txBox="1"/>
          <p:nvPr/>
        </p:nvSpPr>
        <p:spPr>
          <a:xfrm>
            <a:off x="640080" y="274320"/>
            <a:ext cx="45720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93A4B5"/>
                </a:solidFill>
                <a:latin typeface="NanumGothic"/>
                <a:ea typeface="NanumGothic"/>
                <a:cs typeface="NanumGothic"/>
              </a:rPr>
              <a:t>TOKEN COST LAB  /  08</a:t>
            </a:r>
          </a:p>
        </p:txBody>
      </p:sp>
      <p:sp>
        <p:nvSpPr>
          <p:cNvPr id="4" name="audit:scope"/>
          <p:cNvSpPr txBox="1"/>
          <p:nvPr/>
        </p:nvSpPr>
        <p:spPr>
          <a:xfrm>
            <a:off x="5760720" y="274320"/>
            <a:ext cx="57607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36D399"/>
                </a:solidFill>
                <a:latin typeface="NanumGothic"/>
                <a:ea typeface="NanumGothic"/>
                <a:cs typeface="NanumGothic"/>
              </a:rPr>
              <a:t>시나리오 (10,000콜)</a:t>
            </a:r>
          </a:p>
        </p:txBody>
      </p:sp>
      <p:sp>
        <p:nvSpPr>
          <p:cNvPr id="5" name="audit:title"/>
          <p:cNvSpPr txBox="1"/>
          <p:nvPr/>
        </p:nvSpPr>
        <p:spPr>
          <a:xfrm>
            <a:off x="640080" y="822960"/>
            <a:ext cx="1088136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900" b="1">
                <a:solidFill>
                  <a:srgbClr val="ECF1F6"/>
                </a:solidFill>
                <a:latin typeface="NanumGothic"/>
                <a:ea typeface="NanumGothic"/>
                <a:cs typeface="NanumGothic"/>
              </a:rPr>
              <a:t>모델 라우팅 · 쉬운 요청에 비싼 모델을 쓰지 않는다</a:t>
            </a:r>
          </a:p>
        </p:txBody>
      </p:sp>
      <p:sp>
        <p:nvSpPr>
          <p:cNvPr id="6" name="audit:hero"/>
          <p:cNvSpPr txBox="1"/>
          <p:nvPr/>
        </p:nvSpPr>
        <p:spPr>
          <a:xfrm>
            <a:off x="640080" y="1783080"/>
            <a:ext cx="10881360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900" b="1">
                <a:solidFill>
                  <a:srgbClr val="36D399"/>
                </a:solidFill>
                <a:latin typeface="NanumGothic"/>
                <a:ea typeface="NanumGothic"/>
                <a:cs typeface="NanumGothic"/>
              </a:rPr>
              <a:t>전부 강 $350 → 절반 $184</a:t>
            </a:r>
          </a:p>
        </p:txBody>
      </p:sp>
      <p:sp>
        <p:nvSpPr>
          <p:cNvPr id="7" name="audit:body-0"/>
          <p:cNvSpPr txBox="1"/>
          <p:nvPr/>
        </p:nvSpPr>
        <p:spPr>
          <a:xfrm>
            <a:off x="777240" y="2862072"/>
            <a:ext cx="10652760" cy="6126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750" b="0">
                <a:solidFill>
                  <a:srgbClr val="ECF1F6"/>
                </a:solidFill>
                <a:latin typeface="NanumGothic"/>
                <a:ea typeface="NanumGothic"/>
                <a:cs typeface="NanumGothic"/>
              </a:rPr>
              <a:t>절반만 라우팅해도 47% 절감</a:t>
            </a:r>
          </a:p>
        </p:txBody>
      </p:sp>
      <p:sp>
        <p:nvSpPr>
          <p:cNvPr id="8" name="audit:body-1"/>
          <p:cNvSpPr txBox="1"/>
          <p:nvPr/>
        </p:nvSpPr>
        <p:spPr>
          <a:xfrm>
            <a:off x="777240" y="3502152"/>
            <a:ext cx="10652760" cy="6126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750" b="0">
                <a:solidFill>
                  <a:srgbClr val="ECF1F6"/>
                </a:solidFill>
                <a:latin typeface="NanumGothic"/>
                <a:ea typeface="NanumGothic"/>
                <a:cs typeface="NanumGothic"/>
              </a:rPr>
              <a:t>공격적 라우팅은 $35.17 (90% 절감)</a:t>
            </a:r>
          </a:p>
        </p:txBody>
      </p:sp>
      <p:sp>
        <p:nvSpPr>
          <p:cNvPr id="9" name="audit:body-2"/>
          <p:cNvSpPr txBox="1"/>
          <p:nvPr/>
        </p:nvSpPr>
        <p:spPr>
          <a:xfrm>
            <a:off x="777240" y="4142231"/>
            <a:ext cx="10652760" cy="6126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750" b="0">
                <a:solidFill>
                  <a:srgbClr val="ECF1F6"/>
                </a:solidFill>
                <a:latin typeface="NanumGothic"/>
                <a:ea typeface="NanumGothic"/>
                <a:cs typeface="NanumGothic"/>
              </a:rPr>
              <a:t>품질 측정 도구가 먼저다 — 임계값은 주기적으로 재보정</a:t>
            </a:r>
          </a:p>
        </p:txBody>
      </p:sp>
      <p:sp>
        <p:nvSpPr>
          <p:cNvPr id="10" name="audit:source"/>
          <p:cNvSpPr txBox="1"/>
          <p:nvPr/>
        </p:nvSpPr>
        <p:spPr>
          <a:xfrm>
            <a:off x="640080" y="6080760"/>
            <a:ext cx="10972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93A4B5"/>
                </a:solidFill>
                <a:latin typeface="NanumGothic"/>
                <a:ea typeface="NanumGothic"/>
                <a:cs typeface="NanumGothic"/>
              </a:rPr>
              <a:t>experiments/exp06_other_levers.py</a:t>
            </a:r>
          </a:p>
        </p:txBody>
      </p:sp>
      <p:sp>
        <p:nvSpPr>
          <p:cNvPr id="11" name="audit:footer"/>
          <p:cNvSpPr txBox="1"/>
          <p:nvPr/>
        </p:nvSpPr>
        <p:spPr>
          <a:xfrm>
            <a:off x="640080" y="6419088"/>
            <a:ext cx="1097280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93A4B5"/>
                </a:solidFill>
                <a:latin typeface="NanumGothic"/>
                <a:ea typeface="NanumGothic"/>
                <a:cs typeface="NanumGothic"/>
              </a:rPr>
              <a:t>2026-09-20  ·  근거와 조건을 함께 인용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141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0584" cy="6858000"/>
          </a:xfrm>
          <a:prstGeom prst="rect">
            <a:avLst/>
          </a:prstGeom>
          <a:solidFill>
            <a:srgbClr val="36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audit:index"/>
          <p:cNvSpPr txBox="1"/>
          <p:nvPr/>
        </p:nvSpPr>
        <p:spPr>
          <a:xfrm>
            <a:off x="640080" y="274320"/>
            <a:ext cx="45720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93A4B5"/>
                </a:solidFill>
                <a:latin typeface="NanumGothic"/>
                <a:ea typeface="NanumGothic"/>
                <a:cs typeface="NanumGothic"/>
              </a:rPr>
              <a:t>TOKEN COST LAB  /  09</a:t>
            </a:r>
          </a:p>
        </p:txBody>
      </p:sp>
      <p:sp>
        <p:nvSpPr>
          <p:cNvPr id="4" name="audit:scope"/>
          <p:cNvSpPr txBox="1"/>
          <p:nvPr/>
        </p:nvSpPr>
        <p:spPr>
          <a:xfrm>
            <a:off x="5760720" y="274320"/>
            <a:ext cx="57607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36D399"/>
                </a:solidFill>
                <a:latin typeface="NanumGothic"/>
                <a:ea typeface="NanumGothic"/>
                <a:cs typeface="NanumGothic"/>
              </a:rPr>
              <a:t>가격표 + 시나리오</a:t>
            </a:r>
          </a:p>
        </p:txBody>
      </p:sp>
      <p:sp>
        <p:nvSpPr>
          <p:cNvPr id="5" name="audit:title"/>
          <p:cNvSpPr txBox="1"/>
          <p:nvPr/>
        </p:nvSpPr>
        <p:spPr>
          <a:xfrm>
            <a:off x="640080" y="822960"/>
            <a:ext cx="1088136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900" b="1">
                <a:solidFill>
                  <a:srgbClr val="ECF1F6"/>
                </a:solidFill>
                <a:latin typeface="NanumGothic"/>
                <a:ea typeface="NanumGothic"/>
                <a:cs typeface="NanumGothic"/>
              </a:rPr>
              <a:t>배치 API · 지연을 할인으로 바꾼다</a:t>
            </a:r>
          </a:p>
        </p:txBody>
      </p:sp>
      <p:sp>
        <p:nvSpPr>
          <p:cNvPr id="6" name="audit:hero"/>
          <p:cNvSpPr txBox="1"/>
          <p:nvPr/>
        </p:nvSpPr>
        <p:spPr>
          <a:xfrm>
            <a:off x="640080" y="1783080"/>
            <a:ext cx="10881360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900" b="1">
                <a:solidFill>
                  <a:srgbClr val="36D399"/>
                </a:solidFill>
                <a:latin typeface="NanumGothic"/>
                <a:ea typeface="NanumGothic"/>
                <a:cs typeface="NanumGothic"/>
              </a:rPr>
              <a:t>50,000건 $675 → $337.50</a:t>
            </a:r>
          </a:p>
        </p:txBody>
      </p:sp>
      <p:sp>
        <p:nvSpPr>
          <p:cNvPr id="7" name="audit:body-0"/>
          <p:cNvSpPr txBox="1"/>
          <p:nvPr/>
        </p:nvSpPr>
        <p:spPr>
          <a:xfrm>
            <a:off x="777240" y="2862072"/>
            <a:ext cx="10652760" cy="6126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750" b="0">
                <a:solidFill>
                  <a:srgbClr val="ECF1F6"/>
                </a:solidFill>
                <a:latin typeface="NanumGothic"/>
                <a:ea typeface="NanumGothic"/>
                <a:cs typeface="NanumGothic"/>
              </a:rPr>
              <a:t>입력·출력 모두 50% 할인</a:t>
            </a:r>
          </a:p>
        </p:txBody>
      </p:sp>
      <p:sp>
        <p:nvSpPr>
          <p:cNvPr id="8" name="audit:body-1"/>
          <p:cNvSpPr txBox="1"/>
          <p:nvPr/>
        </p:nvSpPr>
        <p:spPr>
          <a:xfrm>
            <a:off x="777240" y="3502152"/>
            <a:ext cx="10652760" cy="6126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750" b="0">
                <a:solidFill>
                  <a:srgbClr val="ECF1F6"/>
                </a:solidFill>
                <a:latin typeface="NanumGothic"/>
                <a:ea typeface="NanumGothic"/>
                <a:cs typeface="NanumGothic"/>
              </a:rPr>
              <a:t>24시간 안에 끝나면 되는 잡만</a:t>
            </a:r>
          </a:p>
        </p:txBody>
      </p:sp>
      <p:sp>
        <p:nvSpPr>
          <p:cNvPr id="9" name="audit:body-2"/>
          <p:cNvSpPr txBox="1"/>
          <p:nvPr/>
        </p:nvSpPr>
        <p:spPr>
          <a:xfrm>
            <a:off x="777240" y="4142231"/>
            <a:ext cx="10652760" cy="6126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750" b="0">
                <a:solidFill>
                  <a:srgbClr val="ECF1F6"/>
                </a:solidFill>
                <a:latin typeface="NanumGothic"/>
                <a:ea typeface="NanumGothic"/>
                <a:cs typeface="NanumGothic"/>
              </a:rPr>
              <a:t>야간 평가 · 대량 분류 · 리포트 생성 · 레포 전체 분석</a:t>
            </a:r>
          </a:p>
        </p:txBody>
      </p:sp>
      <p:sp>
        <p:nvSpPr>
          <p:cNvPr id="10" name="audit:source"/>
          <p:cNvSpPr txBox="1"/>
          <p:nvPr/>
        </p:nvSpPr>
        <p:spPr>
          <a:xfrm>
            <a:off x="640080" y="6080760"/>
            <a:ext cx="10972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93A4B5"/>
                </a:solidFill>
                <a:latin typeface="NanumGothic"/>
                <a:ea typeface="NanumGothic"/>
                <a:cs typeface="NanumGothic"/>
              </a:rPr>
              <a:t>experiments/exp06_other_levers.py</a:t>
            </a:r>
          </a:p>
        </p:txBody>
      </p:sp>
      <p:sp>
        <p:nvSpPr>
          <p:cNvPr id="11" name="audit:footer"/>
          <p:cNvSpPr txBox="1"/>
          <p:nvPr/>
        </p:nvSpPr>
        <p:spPr>
          <a:xfrm>
            <a:off x="640080" y="6419088"/>
            <a:ext cx="1097280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93A4B5"/>
                </a:solidFill>
                <a:latin typeface="NanumGothic"/>
                <a:ea typeface="NanumGothic"/>
                <a:cs typeface="NanumGothic"/>
              </a:rPr>
              <a:t>2026-09-20  ·  근거와 조건을 함께 인용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141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0584" cy="6858000"/>
          </a:xfrm>
          <a:prstGeom prst="rect">
            <a:avLst/>
          </a:prstGeom>
          <a:solidFill>
            <a:srgbClr val="36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audit:index"/>
          <p:cNvSpPr txBox="1"/>
          <p:nvPr/>
        </p:nvSpPr>
        <p:spPr>
          <a:xfrm>
            <a:off x="640080" y="274320"/>
            <a:ext cx="45720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93A4B5"/>
                </a:solidFill>
                <a:latin typeface="NanumGothic"/>
                <a:ea typeface="NanumGothic"/>
                <a:cs typeface="NanumGothic"/>
              </a:rPr>
              <a:t>TOKEN COST LAB  /  10</a:t>
            </a:r>
          </a:p>
        </p:txBody>
      </p:sp>
      <p:sp>
        <p:nvSpPr>
          <p:cNvPr id="4" name="audit:scope"/>
          <p:cNvSpPr txBox="1"/>
          <p:nvPr/>
        </p:nvSpPr>
        <p:spPr>
          <a:xfrm>
            <a:off x="5760720" y="274320"/>
            <a:ext cx="57607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36D399"/>
                </a:solidFill>
                <a:latin typeface="NanumGothic"/>
                <a:ea typeface="NanumGothic"/>
                <a:cs typeface="NanumGothic"/>
              </a:rPr>
              <a:t>순차 시나리오</a:t>
            </a:r>
          </a:p>
        </p:txBody>
      </p:sp>
      <p:sp>
        <p:nvSpPr>
          <p:cNvPr id="5" name="audit:title"/>
          <p:cNvSpPr txBox="1"/>
          <p:nvPr/>
        </p:nvSpPr>
        <p:spPr>
          <a:xfrm>
            <a:off x="640080" y="566928"/>
            <a:ext cx="1088136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900" b="1">
                <a:solidFill>
                  <a:srgbClr val="ECF1F6"/>
                </a:solidFill>
                <a:latin typeface="NanumGothic"/>
                <a:ea typeface="NanumGothic"/>
                <a:cs typeface="NanumGothic"/>
              </a:rPr>
              <a:t>다섯 레버를 겹치면</a:t>
            </a:r>
          </a:p>
        </p:txBody>
      </p:sp>
      <p:sp>
        <p:nvSpPr>
          <p:cNvPr id="6" name="audit:hero"/>
          <p:cNvSpPr txBox="1"/>
          <p:nvPr/>
        </p:nvSpPr>
        <p:spPr>
          <a:xfrm>
            <a:off x="640080" y="1261872"/>
            <a:ext cx="10881360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900" b="1">
                <a:solidFill>
                  <a:srgbClr val="36D399"/>
                </a:solidFill>
                <a:latin typeface="NanumGothic"/>
                <a:ea typeface="NanumGothic"/>
                <a:cs typeface="NanumGothic"/>
              </a:rPr>
              <a:t>잔여 14.18%</a:t>
            </a:r>
          </a:p>
        </p:txBody>
      </p:sp>
      <p:sp>
        <p:nvSpPr>
          <p:cNvPr id="7" name="audit:body-0"/>
          <p:cNvSpPr txBox="1"/>
          <p:nvPr/>
        </p:nvSpPr>
        <p:spPr>
          <a:xfrm>
            <a:off x="777240" y="2029968"/>
            <a:ext cx="10652760" cy="6126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750" b="0">
                <a:solidFill>
                  <a:srgbClr val="ECF1F6"/>
                </a:solidFill>
                <a:latin typeface="NanumGothic"/>
                <a:ea typeface="NanumGothic"/>
                <a:cs typeface="NanumGothic"/>
              </a:rPr>
              <a:t>시맨틱 캐시 → 라우팅 → 캐싱 → effort → 배치</a:t>
            </a:r>
          </a:p>
        </p:txBody>
      </p:sp>
      <p:sp>
        <p:nvSpPr>
          <p:cNvPr id="8" name="audit:body-1"/>
          <p:cNvSpPr txBox="1"/>
          <p:nvPr/>
        </p:nvSpPr>
        <p:spPr>
          <a:xfrm>
            <a:off x="777240" y="2542032"/>
            <a:ext cx="10652760" cy="6126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750" b="0">
                <a:solidFill>
                  <a:srgbClr val="ECF1F6"/>
                </a:solidFill>
                <a:latin typeface="NanumGothic"/>
                <a:ea typeface="NanumGothic"/>
                <a:cs typeface="NanumGothic"/>
              </a:rPr>
              <a:t>각 레버가 자기 조건을 만족할 때의 순차 산술</a:t>
            </a:r>
          </a:p>
        </p:txBody>
      </p:sp>
      <p:pic>
        <p:nvPicPr>
          <p:cNvPr id="9" name="Picture 8" descr="stac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40" y="3101593"/>
            <a:ext cx="10652760" cy="2959100"/>
          </a:xfrm>
          <a:prstGeom prst="rect">
            <a:avLst/>
          </a:prstGeom>
        </p:spPr>
      </p:pic>
      <p:sp>
        <p:nvSpPr>
          <p:cNvPr id="10" name="audit:chart-caption"/>
          <p:cNvSpPr txBox="1"/>
          <p:nvPr/>
        </p:nvSpPr>
        <p:spPr>
          <a:xfrm>
            <a:off x="777240" y="6135624"/>
            <a:ext cx="10652760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50" b="0">
                <a:solidFill>
                  <a:srgbClr val="93A4B5"/>
                </a:solidFill>
                <a:latin typeface="NanumGothic"/>
                <a:ea typeface="NanumGothic"/>
                <a:cs typeface="NanumGothic"/>
              </a:rPr>
              <a:t>그래프 · 남은 비율 (%) · stack.png</a:t>
            </a:r>
          </a:p>
        </p:txBody>
      </p:sp>
      <p:sp>
        <p:nvSpPr>
          <p:cNvPr id="11" name="audit:source"/>
          <p:cNvSpPr txBox="1"/>
          <p:nvPr/>
        </p:nvSpPr>
        <p:spPr>
          <a:xfrm>
            <a:off x="777240" y="6382512"/>
            <a:ext cx="10972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93A4B5"/>
                </a:solidFill>
                <a:latin typeface="NanumGothic"/>
                <a:ea typeface="NanumGothic"/>
                <a:cs typeface="NanumGothic"/>
              </a:rPr>
              <a:t>experiments/exp06_other_levers.py</a:t>
            </a:r>
          </a:p>
        </p:txBody>
      </p:sp>
      <p:sp>
        <p:nvSpPr>
          <p:cNvPr id="12" name="audit:footer"/>
          <p:cNvSpPr txBox="1"/>
          <p:nvPr/>
        </p:nvSpPr>
        <p:spPr>
          <a:xfrm>
            <a:off x="777240" y="6583680"/>
            <a:ext cx="1097280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93A4B5"/>
                </a:solidFill>
                <a:latin typeface="NanumGothic"/>
                <a:ea typeface="NanumGothic"/>
                <a:cs typeface="NanumGothic"/>
              </a:rPr>
              <a:t>2026-09-20  ·  근거와 조건을 함께 인용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141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0584" cy="6858000"/>
          </a:xfrm>
          <a:prstGeom prst="rect">
            <a:avLst/>
          </a:prstGeom>
          <a:solidFill>
            <a:srgbClr val="36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audit:index"/>
          <p:cNvSpPr txBox="1"/>
          <p:nvPr/>
        </p:nvSpPr>
        <p:spPr>
          <a:xfrm>
            <a:off x="640080" y="274320"/>
            <a:ext cx="45720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93A4B5"/>
                </a:solidFill>
                <a:latin typeface="NanumGothic"/>
                <a:ea typeface="NanumGothic"/>
                <a:cs typeface="NanumGothic"/>
              </a:rPr>
              <a:t>TOKEN COST LAB  /  11</a:t>
            </a:r>
          </a:p>
        </p:txBody>
      </p:sp>
      <p:sp>
        <p:nvSpPr>
          <p:cNvPr id="4" name="audit:scope"/>
          <p:cNvSpPr txBox="1"/>
          <p:nvPr/>
        </p:nvSpPr>
        <p:spPr>
          <a:xfrm>
            <a:off x="5760720" y="274320"/>
            <a:ext cx="57607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36D399"/>
                </a:solidFill>
                <a:latin typeface="NanumGothic"/>
                <a:ea typeface="NanumGothic"/>
                <a:cs typeface="NanumGothic"/>
              </a:rPr>
              <a:t>저장 API 로그 재계산</a:t>
            </a:r>
          </a:p>
        </p:txBody>
      </p:sp>
      <p:sp>
        <p:nvSpPr>
          <p:cNvPr id="5" name="audit:title"/>
          <p:cNvSpPr txBox="1"/>
          <p:nvPr/>
        </p:nvSpPr>
        <p:spPr>
          <a:xfrm>
            <a:off x="640080" y="822960"/>
            <a:ext cx="1088136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900" b="1">
                <a:solidFill>
                  <a:srgbClr val="ECF1F6"/>
                </a:solidFill>
                <a:latin typeface="NanumGothic"/>
                <a:ea typeface="NanumGothic"/>
                <a:cs typeface="NanumGothic"/>
              </a:rPr>
              <a:t>안 보이는 사고 토큰</a:t>
            </a:r>
          </a:p>
        </p:txBody>
      </p:sp>
      <p:sp>
        <p:nvSpPr>
          <p:cNvPr id="6" name="audit:hero"/>
          <p:cNvSpPr txBox="1"/>
          <p:nvPr/>
        </p:nvSpPr>
        <p:spPr>
          <a:xfrm>
            <a:off x="640080" y="1783080"/>
            <a:ext cx="10881360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900" b="1">
                <a:solidFill>
                  <a:srgbClr val="36D399"/>
                </a:solidFill>
                <a:latin typeface="NanumGothic"/>
                <a:ea typeface="NanumGothic"/>
                <a:cs typeface="NanumGothic"/>
              </a:rPr>
              <a:t>199.47배 (기존 환산 240.02배)</a:t>
            </a:r>
          </a:p>
        </p:txBody>
      </p:sp>
      <p:sp>
        <p:nvSpPr>
          <p:cNvPr id="7" name="audit:body-0"/>
          <p:cNvSpPr txBox="1"/>
          <p:nvPr/>
        </p:nvSpPr>
        <p:spPr>
          <a:xfrm>
            <a:off x="777240" y="2862072"/>
            <a:ext cx="10652760" cy="6126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750" b="0">
                <a:solidFill>
                  <a:srgbClr val="ECF1F6"/>
                </a:solidFill>
                <a:latin typeface="NanumGothic"/>
                <a:ea typeface="NanumGothic"/>
                <a:cs typeface="NanumGothic"/>
              </a:rPr>
              <a:t>같은 문제를 조건당 6회 실행한 저장 로그 30행</a:t>
            </a:r>
          </a:p>
        </p:txBody>
      </p:sp>
      <p:sp>
        <p:nvSpPr>
          <p:cNvPr id="8" name="audit:body-1"/>
          <p:cNvSpPr txBox="1"/>
          <p:nvPr/>
        </p:nvSpPr>
        <p:spPr>
          <a:xfrm>
            <a:off x="777240" y="3502152"/>
            <a:ext cx="10652760" cy="6126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750" b="0">
                <a:solidFill>
                  <a:srgbClr val="ECF1F6"/>
                </a:solidFill>
                <a:latin typeface="NanumGothic"/>
                <a:ea typeface="NanumGothic"/>
                <a:cs typeface="NanumGothic"/>
              </a:rPr>
              <a:t>사고가 난 호출에서 사고 토큰 비중 99.625%</a:t>
            </a:r>
          </a:p>
        </p:txBody>
      </p:sp>
      <p:sp>
        <p:nvSpPr>
          <p:cNvPr id="9" name="audit:body-2"/>
          <p:cNvSpPr txBox="1"/>
          <p:nvPr/>
        </p:nvSpPr>
        <p:spPr>
          <a:xfrm>
            <a:off x="777240" y="4142231"/>
            <a:ext cx="10652760" cy="6126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750" b="0">
                <a:solidFill>
                  <a:srgbClr val="ECF1F6"/>
                </a:solidFill>
                <a:latin typeface="NanumGothic"/>
                <a:ea typeface="NanumGothic"/>
                <a:cs typeface="NanumGothic"/>
              </a:rPr>
              <a:t>예산을 지정하지 않으면 사실상 '무제한' — 명시적으로 정한다</a:t>
            </a:r>
          </a:p>
        </p:txBody>
      </p:sp>
      <p:sp>
        <p:nvSpPr>
          <p:cNvPr id="10" name="audit:source"/>
          <p:cNvSpPr txBox="1"/>
          <p:nvPr/>
        </p:nvSpPr>
        <p:spPr>
          <a:xfrm>
            <a:off x="640080" y="6080760"/>
            <a:ext cx="10972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93A4B5"/>
                </a:solidFill>
                <a:latin typeface="NanumGothic"/>
                <a:ea typeface="NanumGothic"/>
                <a:cs typeface="NanumGothic"/>
              </a:rPr>
              <a:t>results/thinking_sweep.jsonl (30 rows)</a:t>
            </a:r>
          </a:p>
        </p:txBody>
      </p:sp>
      <p:sp>
        <p:nvSpPr>
          <p:cNvPr id="11" name="audit:footer"/>
          <p:cNvSpPr txBox="1"/>
          <p:nvPr/>
        </p:nvSpPr>
        <p:spPr>
          <a:xfrm>
            <a:off x="640080" y="6419088"/>
            <a:ext cx="1097280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93A4B5"/>
                </a:solidFill>
                <a:latin typeface="NanumGothic"/>
                <a:ea typeface="NanumGothic"/>
                <a:cs typeface="NanumGothic"/>
              </a:rPr>
              <a:t>2026-09-20  ·  근거와 조건을 함께 인용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141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0584" cy="6858000"/>
          </a:xfrm>
          <a:prstGeom prst="rect">
            <a:avLst/>
          </a:prstGeom>
          <a:solidFill>
            <a:srgbClr val="36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audit:index"/>
          <p:cNvSpPr txBox="1"/>
          <p:nvPr/>
        </p:nvSpPr>
        <p:spPr>
          <a:xfrm>
            <a:off x="640080" y="274320"/>
            <a:ext cx="45720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93A4B5"/>
                </a:solidFill>
                <a:latin typeface="NanumGothic"/>
                <a:ea typeface="NanumGothic"/>
                <a:cs typeface="NanumGothic"/>
              </a:rPr>
              <a:t>TOKEN COST LAB  /  12</a:t>
            </a:r>
          </a:p>
        </p:txBody>
      </p:sp>
      <p:sp>
        <p:nvSpPr>
          <p:cNvPr id="4" name="audit:scope"/>
          <p:cNvSpPr txBox="1"/>
          <p:nvPr/>
        </p:nvSpPr>
        <p:spPr>
          <a:xfrm>
            <a:off x="5760720" y="274320"/>
            <a:ext cx="57607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36D399"/>
                </a:solidFill>
                <a:latin typeface="NanumGothic"/>
                <a:ea typeface="NanumGothic"/>
                <a:cs typeface="NanumGothic"/>
              </a:rPr>
              <a:t>저장 로그 80행 재계산</a:t>
            </a:r>
          </a:p>
        </p:txBody>
      </p:sp>
      <p:sp>
        <p:nvSpPr>
          <p:cNvPr id="5" name="audit:title"/>
          <p:cNvSpPr txBox="1"/>
          <p:nvPr/>
        </p:nvSpPr>
        <p:spPr>
          <a:xfrm>
            <a:off x="640080" y="822960"/>
            <a:ext cx="1088136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900" b="1">
                <a:solidFill>
                  <a:srgbClr val="ECF1F6"/>
                </a:solidFill>
                <a:latin typeface="NanumGothic"/>
                <a:ea typeface="NanumGothic"/>
                <a:cs typeface="NanumGothic"/>
              </a:rPr>
              <a:t>언어별 비용은 지표마다 다르다</a:t>
            </a:r>
          </a:p>
        </p:txBody>
      </p:sp>
      <p:sp>
        <p:nvSpPr>
          <p:cNvPr id="6" name="audit:hero"/>
          <p:cNvSpPr txBox="1"/>
          <p:nvPr/>
        </p:nvSpPr>
        <p:spPr>
          <a:xfrm>
            <a:off x="640080" y="1783080"/>
            <a:ext cx="10881360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900" b="1">
                <a:solidFill>
                  <a:srgbClr val="36D399"/>
                </a:solidFill>
                <a:latin typeface="NanumGothic"/>
                <a:ea typeface="NanumGothic"/>
                <a:cs typeface="NanumGothic"/>
              </a:rPr>
              <a:t>호출당 1.364배 · 0.729배</a:t>
            </a:r>
          </a:p>
        </p:txBody>
      </p:sp>
      <p:sp>
        <p:nvSpPr>
          <p:cNvPr id="7" name="audit:body-0"/>
          <p:cNvSpPr txBox="1"/>
          <p:nvPr/>
        </p:nvSpPr>
        <p:spPr>
          <a:xfrm>
            <a:off x="777240" y="2862072"/>
            <a:ext cx="10652760" cy="6126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750" b="0">
                <a:solidFill>
                  <a:srgbClr val="ECF1F6"/>
                </a:solidFill>
                <a:latin typeface="NanumGothic"/>
                <a:ea typeface="NanumGothic"/>
                <a:cs typeface="NanumGothic"/>
              </a:rPr>
              <a:t>문자당(기존 환산 단가) 3.027배 · 1.363배</a:t>
            </a:r>
          </a:p>
        </p:txBody>
      </p:sp>
      <p:sp>
        <p:nvSpPr>
          <p:cNvPr id="8" name="audit:body-1"/>
          <p:cNvSpPr txBox="1"/>
          <p:nvPr/>
        </p:nvSpPr>
        <p:spPr>
          <a:xfrm>
            <a:off x="777240" y="3502152"/>
            <a:ext cx="10652760" cy="6126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750" b="0">
                <a:solidFill>
                  <a:srgbClr val="ECF1F6"/>
                </a:solidFill>
                <a:latin typeface="NanumGothic"/>
                <a:ea typeface="NanumGothic"/>
                <a:cs typeface="NanumGothic"/>
              </a:rPr>
              <a:t>같은 과제라도 언어에 따라 생성 길이가 달라진다</a:t>
            </a:r>
          </a:p>
        </p:txBody>
      </p:sp>
      <p:sp>
        <p:nvSpPr>
          <p:cNvPr id="9" name="audit:body-2"/>
          <p:cNvSpPr txBox="1"/>
          <p:nvPr/>
        </p:nvSpPr>
        <p:spPr>
          <a:xfrm>
            <a:off x="777240" y="4142231"/>
            <a:ext cx="10652760" cy="6126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750" b="0">
                <a:solidFill>
                  <a:srgbClr val="ECF1F6"/>
                </a:solidFill>
                <a:latin typeface="NanumGothic"/>
                <a:ea typeface="NanumGothic"/>
                <a:cs typeface="NanumGothic"/>
              </a:rPr>
              <a:t>지표를 섞으면 결론이 뒤집힌다</a:t>
            </a:r>
          </a:p>
        </p:txBody>
      </p:sp>
      <p:sp>
        <p:nvSpPr>
          <p:cNvPr id="10" name="audit:source"/>
          <p:cNvSpPr txBox="1"/>
          <p:nvPr/>
        </p:nvSpPr>
        <p:spPr>
          <a:xfrm>
            <a:off x="640080" y="6080760"/>
            <a:ext cx="10972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93A4B5"/>
                </a:solidFill>
                <a:latin typeface="NanumGothic"/>
                <a:ea typeface="NanumGothic"/>
                <a:cs typeface="NanumGothic"/>
              </a:rPr>
              <a:t>tools/stats_test.py · storage logs</a:t>
            </a:r>
          </a:p>
        </p:txBody>
      </p:sp>
      <p:sp>
        <p:nvSpPr>
          <p:cNvPr id="11" name="audit:footer"/>
          <p:cNvSpPr txBox="1"/>
          <p:nvPr/>
        </p:nvSpPr>
        <p:spPr>
          <a:xfrm>
            <a:off x="640080" y="6419088"/>
            <a:ext cx="1097280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93A4B5"/>
                </a:solidFill>
                <a:latin typeface="NanumGothic"/>
                <a:ea typeface="NanumGothic"/>
                <a:cs typeface="NanumGothic"/>
              </a:rPr>
              <a:t>2026-09-20  ·  근거와 조건을 함께 인용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141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0584" cy="6858000"/>
          </a:xfrm>
          <a:prstGeom prst="rect">
            <a:avLst/>
          </a:prstGeom>
          <a:solidFill>
            <a:srgbClr val="36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audit:index"/>
          <p:cNvSpPr txBox="1"/>
          <p:nvPr/>
        </p:nvSpPr>
        <p:spPr>
          <a:xfrm>
            <a:off x="640080" y="274320"/>
            <a:ext cx="45720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93A4B5"/>
                </a:solidFill>
                <a:latin typeface="NanumGothic"/>
                <a:ea typeface="NanumGothic"/>
                <a:cs typeface="NanumGothic"/>
              </a:rPr>
              <a:t>TOKEN COST LAB  /  13</a:t>
            </a:r>
          </a:p>
        </p:txBody>
      </p:sp>
      <p:sp>
        <p:nvSpPr>
          <p:cNvPr id="4" name="audit:scope"/>
          <p:cNvSpPr txBox="1"/>
          <p:nvPr/>
        </p:nvSpPr>
        <p:spPr>
          <a:xfrm>
            <a:off x="5760720" y="274320"/>
            <a:ext cx="57607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36D399"/>
                </a:solidFill>
                <a:latin typeface="NanumGothic"/>
                <a:ea typeface="NanumGothic"/>
                <a:cs typeface="NanumGothic"/>
              </a:rPr>
              <a:t>운영 주의</a:t>
            </a:r>
          </a:p>
        </p:txBody>
      </p:sp>
      <p:sp>
        <p:nvSpPr>
          <p:cNvPr id="5" name="audit:title"/>
          <p:cNvSpPr txBox="1"/>
          <p:nvPr/>
        </p:nvSpPr>
        <p:spPr>
          <a:xfrm>
            <a:off x="640080" y="822960"/>
            <a:ext cx="1088136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900" b="1">
                <a:solidFill>
                  <a:srgbClr val="ECF1F6"/>
                </a:solidFill>
                <a:latin typeface="NanumGothic"/>
                <a:ea typeface="NanumGothic"/>
                <a:cs typeface="NanumGothic"/>
              </a:rPr>
              <a:t>캐싱과 개인정보</a:t>
            </a:r>
          </a:p>
        </p:txBody>
      </p:sp>
      <p:sp>
        <p:nvSpPr>
          <p:cNvPr id="6" name="audit:hero"/>
          <p:cNvSpPr txBox="1"/>
          <p:nvPr/>
        </p:nvSpPr>
        <p:spPr>
          <a:xfrm>
            <a:off x="640080" y="1783080"/>
            <a:ext cx="10881360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900" b="1">
                <a:solidFill>
                  <a:srgbClr val="36D399"/>
                </a:solidFill>
                <a:latin typeface="NanumGothic"/>
                <a:ea typeface="NanumGothic"/>
                <a:cs typeface="NanumGothic"/>
              </a:rPr>
              <a:t>개인화 · 실시간 응답은 캐싱 금지</a:t>
            </a:r>
          </a:p>
        </p:txBody>
      </p:sp>
      <p:sp>
        <p:nvSpPr>
          <p:cNvPr id="7" name="audit:body-0"/>
          <p:cNvSpPr txBox="1"/>
          <p:nvPr/>
        </p:nvSpPr>
        <p:spPr>
          <a:xfrm>
            <a:off x="777240" y="2862072"/>
            <a:ext cx="10652760" cy="6126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750" b="0">
                <a:solidFill>
                  <a:srgbClr val="ECF1F6"/>
                </a:solidFill>
                <a:latin typeface="NanumGothic"/>
                <a:ea typeface="NanumGothic"/>
                <a:cs typeface="NanumGothic"/>
              </a:rPr>
              <a:t>멀티턴은 캐시 키에 컨텍스트를 포함</a:t>
            </a:r>
          </a:p>
        </p:txBody>
      </p:sp>
      <p:sp>
        <p:nvSpPr>
          <p:cNvPr id="8" name="audit:body-1"/>
          <p:cNvSpPr txBox="1"/>
          <p:nvPr/>
        </p:nvSpPr>
        <p:spPr>
          <a:xfrm>
            <a:off x="777240" y="3502152"/>
            <a:ext cx="10652760" cy="6126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750" b="0">
                <a:solidFill>
                  <a:srgbClr val="ECF1F6"/>
                </a:solidFill>
                <a:latin typeface="NanumGothic"/>
                <a:ea typeface="NanumGothic"/>
                <a:cs typeface="NanumGothic"/>
              </a:rPr>
              <a:t>시맨틱 캐시 임계값이 느슨하면 '비슷하지만 틀린 답'을 준다</a:t>
            </a:r>
          </a:p>
        </p:txBody>
      </p:sp>
      <p:sp>
        <p:nvSpPr>
          <p:cNvPr id="9" name="audit:body-2"/>
          <p:cNvSpPr txBox="1"/>
          <p:nvPr/>
        </p:nvSpPr>
        <p:spPr>
          <a:xfrm>
            <a:off x="777240" y="4142231"/>
            <a:ext cx="10652760" cy="6126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750" b="0">
                <a:solidFill>
                  <a:srgbClr val="ECF1F6"/>
                </a:solidFill>
                <a:latin typeface="NanumGothic"/>
                <a:ea typeface="NanumGothic"/>
                <a:cs typeface="NanumGothic"/>
              </a:rPr>
              <a:t>삭제·TTL 정책을 프롬프트 설계와 함께 정한다</a:t>
            </a:r>
          </a:p>
        </p:txBody>
      </p:sp>
      <p:sp>
        <p:nvSpPr>
          <p:cNvPr id="10" name="audit:source"/>
          <p:cNvSpPr txBox="1"/>
          <p:nvPr/>
        </p:nvSpPr>
        <p:spPr>
          <a:xfrm>
            <a:off x="640080" y="6080760"/>
            <a:ext cx="10972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93A4B5"/>
                </a:solidFill>
                <a:latin typeface="NanumGothic"/>
                <a:ea typeface="NanumGothic"/>
                <a:cs typeface="NanumGothic"/>
              </a:rPr>
              <a:t>experiments/exp06_other_levers.py</a:t>
            </a:r>
          </a:p>
        </p:txBody>
      </p:sp>
      <p:sp>
        <p:nvSpPr>
          <p:cNvPr id="11" name="audit:footer"/>
          <p:cNvSpPr txBox="1"/>
          <p:nvPr/>
        </p:nvSpPr>
        <p:spPr>
          <a:xfrm>
            <a:off x="640080" y="6419088"/>
            <a:ext cx="1097280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93A4B5"/>
                </a:solidFill>
                <a:latin typeface="NanumGothic"/>
                <a:ea typeface="NanumGothic"/>
                <a:cs typeface="NanumGothic"/>
              </a:rPr>
              <a:t>2026-09-20  ·  근거와 조건을 함께 인용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141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0584" cy="6858000"/>
          </a:xfrm>
          <a:prstGeom prst="rect">
            <a:avLst/>
          </a:prstGeom>
          <a:solidFill>
            <a:srgbClr val="36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audit:index"/>
          <p:cNvSpPr txBox="1"/>
          <p:nvPr/>
        </p:nvSpPr>
        <p:spPr>
          <a:xfrm>
            <a:off x="640080" y="274320"/>
            <a:ext cx="45720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93A4B5"/>
                </a:solidFill>
                <a:latin typeface="NanumGothic"/>
                <a:ea typeface="NanumGothic"/>
                <a:cs typeface="NanumGothic"/>
              </a:rPr>
              <a:t>TOKEN COST LAB  /  14</a:t>
            </a:r>
          </a:p>
        </p:txBody>
      </p:sp>
      <p:sp>
        <p:nvSpPr>
          <p:cNvPr id="4" name="audit:scope"/>
          <p:cNvSpPr txBox="1"/>
          <p:nvPr/>
        </p:nvSpPr>
        <p:spPr>
          <a:xfrm>
            <a:off x="5760720" y="274320"/>
            <a:ext cx="57607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36D399"/>
                </a:solidFill>
                <a:latin typeface="NanumGothic"/>
                <a:ea typeface="NanumGothic"/>
                <a:cs typeface="NanumGothic"/>
              </a:rPr>
              <a:t>마무리</a:t>
            </a:r>
          </a:p>
        </p:txBody>
      </p:sp>
      <p:sp>
        <p:nvSpPr>
          <p:cNvPr id="5" name="audit:title"/>
          <p:cNvSpPr txBox="1"/>
          <p:nvPr/>
        </p:nvSpPr>
        <p:spPr>
          <a:xfrm>
            <a:off x="640080" y="822960"/>
            <a:ext cx="1088136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900" b="1">
                <a:solidFill>
                  <a:srgbClr val="ECF1F6"/>
                </a:solidFill>
                <a:latin typeface="NanumGothic"/>
                <a:ea typeface="NanumGothic"/>
                <a:cs typeface="NanumGothic"/>
              </a:rPr>
              <a:t>작게 시작해서 자기 usage로 확인한다</a:t>
            </a:r>
          </a:p>
        </p:txBody>
      </p:sp>
      <p:sp>
        <p:nvSpPr>
          <p:cNvPr id="6" name="audit:hero"/>
          <p:cNvSpPr txBox="1"/>
          <p:nvPr/>
        </p:nvSpPr>
        <p:spPr>
          <a:xfrm>
            <a:off x="640080" y="1783080"/>
            <a:ext cx="10881360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900" b="1">
                <a:solidFill>
                  <a:srgbClr val="36D399"/>
                </a:solidFill>
                <a:latin typeface="NanumGothic"/>
                <a:ea typeface="NanumGothic"/>
                <a:cs typeface="NanumGothic"/>
              </a:rPr>
              <a:t>오늘 한 가지만 켜라 — 캐시</a:t>
            </a:r>
          </a:p>
        </p:txBody>
      </p:sp>
      <p:sp>
        <p:nvSpPr>
          <p:cNvPr id="7" name="audit:body-0"/>
          <p:cNvSpPr txBox="1"/>
          <p:nvPr/>
        </p:nvSpPr>
        <p:spPr>
          <a:xfrm>
            <a:off x="777240" y="2862072"/>
            <a:ext cx="10652760" cy="6126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750" b="0">
                <a:solidFill>
                  <a:srgbClr val="ECF1F6"/>
                </a:solidFill>
                <a:latin typeface="NanumGothic"/>
                <a:ea typeface="NanumGothic"/>
                <a:cs typeface="NanumGothic"/>
              </a:rPr>
              <a:t>다음 주에 배수와 적중률을 다시 잰다</a:t>
            </a:r>
          </a:p>
        </p:txBody>
      </p:sp>
      <p:sp>
        <p:nvSpPr>
          <p:cNvPr id="8" name="audit:body-1"/>
          <p:cNvSpPr txBox="1"/>
          <p:nvPr/>
        </p:nvSpPr>
        <p:spPr>
          <a:xfrm>
            <a:off x="777240" y="3502152"/>
            <a:ext cx="10652760" cy="6126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750" b="0">
                <a:solidFill>
                  <a:srgbClr val="ECF1F6"/>
                </a:solidFill>
                <a:latin typeface="NanumGothic"/>
                <a:ea typeface="NanumGothic"/>
                <a:cs typeface="NanumGothic"/>
              </a:rPr>
              <a:t>품질 게이트를 함께 둔다 — 절감만으로 대신하지 않는다</a:t>
            </a:r>
          </a:p>
        </p:txBody>
      </p:sp>
      <p:sp>
        <p:nvSpPr>
          <p:cNvPr id="9" name="audit:body-2"/>
          <p:cNvSpPr txBox="1"/>
          <p:nvPr/>
        </p:nvSpPr>
        <p:spPr>
          <a:xfrm>
            <a:off x="777240" y="4142231"/>
            <a:ext cx="10652760" cy="6126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750" b="0">
                <a:solidFill>
                  <a:srgbClr val="ECF1F6"/>
                </a:solidFill>
                <a:latin typeface="NanumGothic"/>
                <a:ea typeface="NanumGothic"/>
                <a:cs typeface="NanumGothic"/>
              </a:rPr>
              <a:t>질문과 재현 결과는 저장소 이슈로 남긴다</a:t>
            </a:r>
          </a:p>
        </p:txBody>
      </p:sp>
      <p:sp>
        <p:nvSpPr>
          <p:cNvPr id="10" name="audit:source"/>
          <p:cNvSpPr txBox="1"/>
          <p:nvPr/>
        </p:nvSpPr>
        <p:spPr>
          <a:xfrm>
            <a:off x="640080" y="6080760"/>
            <a:ext cx="10972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93A4B5"/>
                </a:solidFill>
                <a:latin typeface="NanumGothic"/>
                <a:ea typeface="NanumGothic"/>
                <a:cs typeface="NanumGothic"/>
              </a:rPr>
              <a:t>github.com/giyeop-cody/token-cost-lab</a:t>
            </a:r>
          </a:p>
        </p:txBody>
      </p:sp>
      <p:sp>
        <p:nvSpPr>
          <p:cNvPr id="11" name="audit:footer"/>
          <p:cNvSpPr txBox="1"/>
          <p:nvPr/>
        </p:nvSpPr>
        <p:spPr>
          <a:xfrm>
            <a:off x="640080" y="6419088"/>
            <a:ext cx="1097280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93A4B5"/>
                </a:solidFill>
                <a:latin typeface="NanumGothic"/>
                <a:ea typeface="NanumGothic"/>
                <a:cs typeface="NanumGothic"/>
              </a:rPr>
              <a:t>2026-09-20  ·  근거와 조건을 함께 인용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견적서의 나머지 항목</dc:title>
  <dc:subject>Cost-saving talk, 2026-09-20</dc:subject>
  <dc:creator>token-cost-lab</dc:creator>
  <cp:keywords>speaker notes carry scope and limits; see docs/CORRECTIONS.md</cp:keywords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