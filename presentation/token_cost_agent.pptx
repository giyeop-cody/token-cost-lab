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 셋팅편이다. 목표는 '기본값을 낮추고, 필요할 때만 올리는' 배선이다.</a:t>
            </a:r>
          </a:p>
          <a:p>
            <a:r>
              <a:t>오늘 보여주는 것은 참조 구현과 회귀 테스트다. 절감 효과의 실제 A/B는 별도 실험이 필요하다.</a:t>
            </a:r>
          </a:p>
          <a:p>
            <a:r>
              <a:t>라우터 오류율·검출률은 측정하지 않았고, 그렇게 표기한다.</a:t>
            </a:r>
          </a:p>
          <a:p>
            <a:r>
              <a:t>근거: agent_setup/ · tests/</a:t>
            </a:r>
          </a:p>
          <a:p>
            <a:r>
              <a:t>증거 범위: AGENT / 2026-09-20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입력은 한 번에 병렬 처리되고 출력은 한 토큰씩 생성되기 때문에 단가가 다르다.</a:t>
            </a:r>
          </a:p>
          <a:p>
            <a:r>
              <a:t>캐시 읽기 단가는 입력의 0.1배 수준(모델별로 다름)이다. 이 비대칭이 오늘 전략의 근거다.</a:t>
            </a:r>
          </a:p>
          <a:p>
            <a:r>
              <a:t>가격은 공개 리스트 기준이며 계약·무료 티어·세금·도구 비용은 별도다. 실제 청구서로 검증해야 한다.</a:t>
            </a:r>
          </a:p>
          <a:p>
            <a:r>
              <a:t>근거: experiments/exp02_output_to_input.py</a:t>
            </a:r>
          </a:p>
          <a:p>
            <a:r>
              <a:t>증거 범위: 가격표 실측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공개 리스트 단가이며 계약·무료 티어·세금·도구 비용은 별도다.</a:t>
            </a:r>
          </a:p>
          <a:p>
            <a:r>
              <a:t>출력÷입력 배수는 모델별로 4~8배다. 같은 배수를 모든 모델에 적용하지 않는다.</a:t>
            </a:r>
          </a:p>
          <a:p>
            <a:r>
              <a:t>Gemini 3.8/3.6 Flash의 인트로 단가는 2026-12-31까지이며 이후 2배가 된다 — 표에 넣은 값의 기준일을 밝힌다.</a:t>
            </a:r>
          </a:p>
          <a:p>
            <a:r>
              <a:t>근거: lab/pricing.py MODELS</a:t>
            </a:r>
          </a:p>
          <a:p>
            <a:r>
              <a:t>증거 범위: 가격표 스냅샷 (2026-09-20)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20턴 세션에 캐싱만 걸면 $1.91(+17%) — 이력 누적은 그대로 남기 때문이다.</a:t>
            </a:r>
          </a:p>
          <a:p>
            <a:r>
              <a:t>요약은 품질에 영향을 준다. 압축 과정에서 잃는 정보가 재작업을 만들면 절감이 상쇄된다.</a:t>
            </a:r>
          </a:p>
          <a:p>
            <a:r>
              <a:t>주기를 바꿔 가며 재작업률과 총비용을 함께 측정할 것을 권한다.</a:t>
            </a:r>
          </a:p>
          <a:p>
            <a:r>
              <a:t>근거: experiments/exp04_agent_loop_sdd.py</a:t>
            </a:r>
          </a:p>
          <a:p>
            <a:r>
              <a:t>증거 범위: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툴 작업량을 가정하고 메인·자식·요약 비용을 모두 합산한 값이다.</a:t>
            </a:r>
          </a:p>
          <a:p>
            <a:r>
              <a:t>서브에이전트는 요약 품질과 실패·재시도 특성이 다르다. 비용만으로 우열을 단정하지 않는다.</a:t>
            </a:r>
          </a:p>
          <a:p>
            <a:r>
              <a:t>과거의 -87%는 자식·요약을 빼고 계산한 값이어서 전체 절감으로 쓰지 않는다.</a:t>
            </a:r>
          </a:p>
          <a:p>
            <a:r>
              <a:t>근거: experiments/exp11_tool_output_bloat.py</a:t>
            </a:r>
          </a:p>
          <a:p>
            <a:r>
              <a:t>증거 범위: 전체 시스템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분류는 규칙 기반이다. 학습된 라우터가 아니라 조건표에 가깝다.</a:t>
            </a:r>
          </a:p>
          <a:p>
            <a:r>
              <a:t>구성한 반례 테스트는 회귀 검증이지 실사용 오류율 추정이 아니다.</a:t>
            </a:r>
          </a:p>
          <a:p>
            <a:r>
              <a:t>오분류가 나면 상위 티어로 올리는 안전장치를 함께 둔다.</a:t>
            </a:r>
          </a:p>
          <a:p>
            <a:r>
              <a:t>근거: agent_setup/router.py</a:t>
            </a:r>
          </a:p>
          <a:p>
            <a:r>
              <a:t>증거 범위: 라우팅 배선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셋을 섞어 부르면 처방도 섞인다. 발표·회의에서 용어를 먼저 통일한다.</a:t>
            </a:r>
          </a:p>
          <a:p>
            <a:r>
              <a:t>라우팅은 단가표, 리워크는 대화 이력 누적, 워크플로는 단계 배치가 대상이다.</a:t>
            </a:r>
          </a:p>
          <a:p>
            <a:r>
              <a:t>효과를 말할 때는 어떤 정책의 값인지 명시한다.</a:t>
            </a:r>
          </a:p>
          <a:p>
            <a:r>
              <a:t>근거: agent_setup/antigravity/AGENTS.md</a:t>
            </a:r>
          </a:p>
          <a:p>
            <a:r>
              <a:t>증거 범위: 정책 구분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검출할 AC가 부실하면 A가 실패를 놓친다. 그래서 AC를 코드로 강제한다.</a:t>
            </a:r>
          </a:p>
          <a:p>
            <a:r>
              <a:t>respec(다시 스펙)은 실행을 멈추는 무료 경로이고, 실행 비용만 청구된다.</a:t>
            </a:r>
          </a:p>
          <a:p>
            <a:r>
              <a:t>이 정책의 값은 회귀 테스트로 고정한다. 실제 품질 효과는 미측정이다.</a:t>
            </a:r>
          </a:p>
          <a:p>
            <a:r>
              <a:t>근거: agent_setup/router.py</a:t>
            </a:r>
          </a:p>
          <a:p>
            <a:r>
              <a:t>증거 범위: 정책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과거 '0/5 → 4/5'로 소개했던 수치는 원자료가 없어 철회했다. 지금 값은 저장 발화 재생 결과다.</a:t>
            </a:r>
          </a:p>
          <a:p>
            <a:r>
              <a:t>재생은 가정 없는 재현이지만 표본이 짧다(6턴). 분류 정확도를 보장하지 않는다.</a:t>
            </a:r>
          </a:p>
          <a:p>
            <a:r>
              <a:t>분류가 애매하면 escalate가 아니라 질문을 반환하도록 설계했다.</a:t>
            </a:r>
          </a:p>
          <a:p>
            <a:r>
              <a:t>근거: analysis/replay_logs.py</a:t>
            </a:r>
          </a:p>
          <a:p>
            <a:r>
              <a:t>증거 범위: 정책 B (로그 재생)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레버의 절감률을 순서대로 곱한 값이다. 실제 도입에서는 서로 겹치는 부분이 생긴다.</a:t>
            </a:r>
          </a:p>
          <a:p>
            <a:r>
              <a:t>검증된 상한도 아니다. 자기 데이터로 A/B를 돌려 확정해야 한다.</a:t>
            </a:r>
          </a:p>
          <a:p>
            <a:r>
              <a:t>발표에서는 '이론적 상한'이라는 표현보다 '순차 가정의 산술'이라고 말한다.</a:t>
            </a:r>
          </a:p>
          <a:p>
            <a:r>
              <a:t>근거: experiments/exp06_other_levers.py</a:t>
            </a:r>
          </a:p>
          <a:p>
            <a:r>
              <a:t>증거 범위: 순차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부분이 없으면 '새 작업인데 이전 작업의 리워크로 판정'되는 오작동이 생긴다.</a:t>
            </a:r>
          </a:p>
          <a:p>
            <a:r>
              <a:t>회귀 테스트로 새 작업·동일 문구·교차 작업을 검증한다.</a:t>
            </a:r>
          </a:p>
          <a:p>
            <a:r>
              <a:t>로그에 task_id와 판정 근거를 남겨 사후 추적이 가능하게 했다.</a:t>
            </a:r>
          </a:p>
          <a:p>
            <a:r>
              <a:t>근거: agent_setup/orchestrator.py</a:t>
            </a:r>
          </a:p>
          <a:p>
            <a:r>
              <a:t>증거 범위: 상태 관리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경로(진단 후 적용 / 곧바로 적용)에서 같은 값이 나오지 않으면 정책 비교가 무의미해진다.</a:t>
            </a:r>
          </a:p>
          <a:p>
            <a:r>
              <a:t>단가는 실제 계약이 아니라 명시적 시나리오다. 실제 전달문 비용은 usage로 측정한다.</a:t>
            </a:r>
          </a:p>
          <a:p>
            <a:r>
              <a:t>이 값은 회귀 테스트의 기준값이며 절감 실적이 아니다.</a:t>
            </a:r>
          </a:p>
          <a:p>
            <a:r>
              <a:t>근거: agent_setup/router.py · tests/</a:t>
            </a:r>
          </a:p>
          <a:p>
            <a:r>
              <a:t>증거 범위: 비용 회귀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이중 계상은 비용을 부풀려 절감을 과장하는 대표적 실수다.</a:t>
            </a:r>
          </a:p>
          <a:p>
            <a:r>
              <a:t>4,700은 페르소나 시나리오를 맞춘 값이지 독립 실측 캘리브레이션이 아니다. 동일 자료 내부 정합만 확인했다.</a:t>
            </a:r>
          </a:p>
          <a:p>
            <a:r>
              <a:t>역산 오차는 0.147%이고, 이 수치는 문서에 한계와 함께 남긴다.</a:t>
            </a:r>
          </a:p>
          <a:p>
            <a:r>
              <a:t>근거: analysis/calibrate_growth.py</a:t>
            </a:r>
          </a:p>
          <a:p>
            <a:r>
              <a:t>증거 범위: 비용 산식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에이전트는 같은 접두부를 매 턴 다시 보낸다. 캐시의 이득이 가장 큰 워크로드다.</a:t>
            </a:r>
          </a:p>
          <a:p>
            <a:r>
              <a:t>최소 길이 미달이면 할인 가정을 하지 않는다. 모델별 조건을 pricing에 모아 두었다.</a:t>
            </a:r>
          </a:p>
          <a:p>
            <a:r>
              <a:t>프롬프트를 자주 바꾸면 캐시가 깨진다. 변경 주기를 정하고 측정한다.</a:t>
            </a:r>
          </a:p>
          <a:p>
            <a:r>
              <a:t>근거: agent_setup/config.py</a:t>
            </a:r>
          </a:p>
          <a:p>
            <a:r>
              <a:t>증거 범위: 캐싱 배선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 비용은 턴 수의 2차 함수다. '한 번 더 물어보기'가 싼 행동이 아니다.</a:t>
            </a:r>
          </a:p>
          <a:p>
            <a:r>
              <a:t>추상화 레이어 3개를 미리 만든 경우 20턴 세션에서 추가 재전송 비용 $0.270이 붙는다(가정).</a:t>
            </a:r>
          </a:p>
          <a:p>
            <a:r>
              <a:t>턴을 줄이는 가장 확실한 수단은 요구사항을 먼저 확정하는 것이다.</a:t>
            </a:r>
          </a:p>
          <a:p>
            <a:r>
              <a:t>근거: experiments/exp04_agent_loop_sdd.py</a:t>
            </a:r>
          </a:p>
          <a:p>
            <a:r>
              <a:t>증거 범위: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고정 8,000토큰 프리픽스, 턴당 입력 2,000·출력 800, Sonnet 단가의 계산이다.</a:t>
            </a:r>
          </a:p>
          <a:p>
            <a:r>
              <a:t>컴팩션 주기는 요약 비용과 품질·재작업을 함께 측정해 정한다.</a:t>
            </a:r>
          </a:p>
          <a:p>
            <a:r>
              <a:t>실제 세션 비용은 도구 출력과 파일 재전송으로 더 커진다.</a:t>
            </a:r>
          </a:p>
          <a:p>
            <a:r>
              <a:t>근거: experiments/exp04_agent_loop_sdd.py</a:t>
            </a:r>
          </a:p>
          <a:p>
            <a:r>
              <a:t>증거 범위: 비용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고정 20,000 + 가변 1,000 + 출력 1,500, Sonnet 단가, 100콜 조건의 계산이다.</a:t>
            </a:r>
          </a:p>
          <a:p>
            <a:r>
              <a:t>히트율은 가정값이다. 실제 값은 자기 usage의 cache_read 필드로 측정해야 한다.</a:t>
            </a:r>
          </a:p>
          <a:p>
            <a:r>
              <a:t>저장료·TTL·최소 길이는 모델별로 다르다. 미확인 기준은 할인 가정을 하지 않는다.</a:t>
            </a:r>
          </a:p>
          <a:p>
            <a:r>
              <a:t>근거: experiments/exp03_prompt_caching.py</a:t>
            </a:r>
          </a:p>
          <a:p>
            <a:r>
              <a:t>증거 범위: 비용 시나리오 (100콜)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고정 20,000 + 가변 1,000 + 출력 1,500, Sonnet 단가, 100콜 조건의 계산이다.</a:t>
            </a:r>
          </a:p>
          <a:p>
            <a:r>
              <a:t>히트율은 가정값이다. 실제 값은 자기 usage의 cache_read 필드로 측정한다.</a:t>
            </a:r>
          </a:p>
          <a:p>
            <a:r>
              <a:t>저장료·TTL·최소 길이는 모델별로 다르다. 미확인 기준은 할인 가정을 하지 않는다.</a:t>
            </a:r>
          </a:p>
          <a:p>
            <a:r>
              <a:t>근거: experiments/exp03_prompt_caching.py</a:t>
            </a:r>
          </a:p>
          <a:p>
            <a:r>
              <a:t>증거 범위: 비용 시나리오 (100콜)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레버의 절감률을 순서대로 곱한 값이다. 실제 도입에서는 서로 겹치는 부분이 생긴다.</a:t>
            </a:r>
          </a:p>
          <a:p>
            <a:r>
              <a:t>검증된 상한도 아니다. 자기 데이터로 A/B를 돌려 확정해야 한다.</a:t>
            </a:r>
          </a:p>
          <a:p>
            <a:r>
              <a:t>레버별 적용 조건(히트율·라우팅 임계값·배치 가능성)이 다르다.</a:t>
            </a:r>
          </a:p>
          <a:p>
            <a:r>
              <a:t>근거: experiments/exp06_other_levers.py</a:t>
            </a:r>
          </a:p>
          <a:p>
            <a:r>
              <a:t>증거 범위: 순차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EXTERNAL=0은 '추가 종량 API 금액이 0'이라는 모델링 선택이다. 총비용이 0이라는 뜻이 아니다.</a:t>
            </a:r>
          </a:p>
          <a:p>
            <a:r>
              <a:t>약관·품질·재현성은 별도로 확인해야 한다. 라우터가 이를 보증하지 않는다.</a:t>
            </a:r>
          </a:p>
          <a:p>
            <a:r>
              <a:t>사람의 검토 시간과 구독료는 이 계산 밖이다.</a:t>
            </a:r>
          </a:p>
          <a:p>
            <a:r>
              <a:t>복사·정리 단계에서 스펙 형식을 고정하면 다음 단계 입력이 줄어든다.</a:t>
            </a:r>
          </a:p>
          <a:p>
            <a:r>
              <a:t>근거: lab/pricing.py TIER_SCENARIOS</a:t>
            </a:r>
          </a:p>
          <a:p>
            <a:r>
              <a:t>증거 범위: 경로 분리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자동화의 목적은 사람을 빼는 것이 아니라 기본값을 낮추는 것이다.</a:t>
            </a:r>
          </a:p>
          <a:p>
            <a:r>
              <a:t>측정 없는 자동화는 조용히 손해를 만들 수 있다(미스 캐싱이 대표적이다).</a:t>
            </a:r>
          </a:p>
          <a:p>
            <a:r>
              <a:t>이상 징후가 보이면 티어를 고정해 비교하는 폴백을 둔다.</a:t>
            </a:r>
          </a:p>
          <a:p>
            <a:r>
              <a:t>근거: agent_setup/antigravity/AGENTS.md · docs/CORRECTIONS.md</a:t>
            </a:r>
          </a:p>
          <a:p>
            <a:r>
              <a:t>증거 범위: 운영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가지 모두 설정 수준에서 시작할 수 있고 되돌리기 쉽다.</a:t>
            </a:r>
          </a:p>
          <a:p>
            <a:r>
              <a:t>효과는 자기 로그에서 확인한다. 이 저장소의 값은 출발점이다.</a:t>
            </a:r>
          </a:p>
          <a:p>
            <a:r>
              <a:t>질문·재현 결과는 저장소 이슈로 남기면 다음 사람이 같은 실수를 반복하지 않는다.</a:t>
            </a:r>
          </a:p>
          <a:p>
            <a:r>
              <a:t>근거: github.com/giyeop-cody/token-cost-lab</a:t>
            </a:r>
          </a:p>
          <a:p>
            <a:r>
              <a:t>증거 범위: 마무리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01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AGENT / 2026-09-20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작은 모델이 지휘한다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라우팅 · 사다리 · 상태 분리 · 예산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모든 요청에 최상위 모델을 쓰지 않는다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실패가 반복되면 그때 올린다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작업별 상태와 비용을 코드로 관리한다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agent_setup/ · tests/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02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가격표 실측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청구서의 구조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출력은 입력의 2~8배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캐시된 입력과 비교하면 최대 50배까지 벌어진다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사고 토큰은 출력 단가로 청구된다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그래서 '덜 쓰기'보다 '다시 안 보내기'가 크다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experiments/exp02_output_to_input.py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03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가격표 스냅샷 (2026-09-20)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같은 토큰, 다른 단가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261872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출력은 입력의 4~8배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029968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비싼 쪽(출력)을 줄이는 습관이 먼저다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254203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캐시 읽기는 입력의 0.1배 — 캐시가 있는 이유</a:t>
            </a:r>
          </a:p>
        </p:txBody>
      </p:sp>
      <p:pic>
        <p:nvPicPr>
          <p:cNvPr id="9" name="Picture 8" descr="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01593"/>
            <a:ext cx="10652760" cy="2959100"/>
          </a:xfrm>
          <a:prstGeom prst="rect">
            <a:avLst/>
          </a:prstGeom>
        </p:spPr>
      </p:pic>
      <p:sp>
        <p:nvSpPr>
          <p:cNvPr id="10" name="audit:chart-caption"/>
          <p:cNvSpPr txBox="1"/>
          <p:nvPr/>
        </p:nvSpPr>
        <p:spPr>
          <a:xfrm>
            <a:off x="777240" y="6135624"/>
            <a:ext cx="10652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그래프 · 단가 스냅샷 (USD / 100만 토큰) · prices.png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777240" y="63825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lab/pricing.py MODELS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777240" y="65836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04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긴 세션은 컴팩션으로 접는다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$2.32 → $0.93 (60% 절감)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10턴마다 접으면 $1.23 (47% 절감)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너무 자주 접으면 요약 호출이 이득을 먹는다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최적 주기는 세션 길이와 요약 비용으로 정해진다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experiments/exp04_agent_loop_sdd.py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05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전체 시스템 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툴 출력과 서브에이전트는 전체 비용으로 본다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$5.6010 → $2.7360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툴 읽기 누적 전송 1,680,000 토큰 (20턴)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컴팩션 $3.4425 · 서브에이전트 $2.736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자식 호출·요약 비용까지 포함해 비교한다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experiments/exp11_tool_output_bloat.py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06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라우팅 배선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무엇을 자동화하는가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요청마다 사람이 모델을 고르지 않는다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설계 · 구현 · 설명 · 정형 작업을 분류해 티어를 고른다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부수 단어(파일 업로드·검색)보다 작업 목적을 먼저 본다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비용 예산과 출력 상한을 함께 건다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agent_setup/router.py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07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정책 구분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두 정책을 섞지 않는다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라우팅 · 리워크 · 워크플로 컨트롤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라우팅: 요청 한 건을 어느 티어로 보낼지 고른다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리워크: 같은 일을 다시 시키는 구간을 관리한다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워크플로 컨트롤: 앞의 둘을 포함하는 상위 개념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agent_setup/antigravity/AGENTS.md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08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정책 A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사다리 A · 내부 실패가 올린다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테스트가 실패하면 턴 안에서 올린다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수용 기준(AC)이 없으면 올릴 근거도 없다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같은 실패가 반복될수록 누적 비용이 커진다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진단과 적용을 같은 함수로 계산한다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agent_setup/router.py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09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정책 B (로그 재생)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사다리 B · 사용자 반려가 올린다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저장 발화 6턴에서 3회 에스컬레이션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같은 의도의 반복을 감지해 올린다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스펙 변경·신규 작업은 '반려'가 아니다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분류 신호가 없으면 올리지 않고 되묻는다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analysis/replay_logs.py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10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순차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레버는 곱해진다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85.825% (잔여 14%)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시맨틱 캐시 → 라우팅 → 캐싱 → verbosity/effort → 배치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잔여 비용에 순차 적용한 산술 결과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레버 간 중복·상호작용은 검증하지 않았다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experiments/exp06_other_levers.py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11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상태 관리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상태를 작업별로 분리한다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새 작업은 새 상태로 시작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task_id별로 의도 이력·시도 횟수·범위를 추적한다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앞 작업의 반려 상태가 새 작업으로 새지 않는다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초기화 전 내부 호출은 명시적 오류로 처리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agent_setup/orchestrator.py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12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회귀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진단과 적용은 같은 함수로 계산한다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$0.05875 (같은 단계·같은 가정)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범위 · 리셋 · 출력 상한 · 진단/적용을 한 곳에서 계산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두 경로가 같은 값을 내는지 테스트로 고정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티어 단가와 고정 입력 예산은 시나리오 값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agent_setup/router.py · tests/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13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산식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입력 증가분을 두 번 더하지 않는다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4,700을 한 번만 더한다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증가분은 직전 출력과 사용자 발화를 포함한 총량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출력 토큰을 다시 더하면 이중 계상이 된다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누적 예: 1,419 → 6,119 → 10,819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analysis/calibrate_growth.py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14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캐싱 배선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고정 접두부를 캐시에 태운다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규약·시스템 프롬프트는 매 턴 그대로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툴 정의와 규약 파일을 맨 앞 고정 블록으로 모은다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변하는 값(사용자 입력·타임스탬프)은 뒤로 보낸다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적중률을 대시보드로 본다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agent_setup/config.py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15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원칙 5 · 턴 수가 비용을 지배한다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턴 2배 → 비용 3.1배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5턴 $0.26 · 20턴 $2.32 · 50턴 $12.09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안 쓰는 코드도 매 턴 다시 실려 과금된다 (YAGNI)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컨텍스트는 길이보다 '반복'이 비쌉니다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experiments/exp04_agent_loop_sdd.py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16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긴 세션일수록 가파르다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261872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5턴 $0.26 → 50턴 $12.09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029968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20턴에 컴팩션을 걸면 $0.93 (60% 절감)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254203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안 쓰는 코드도 매 턴 다시 실려 과금된다</a:t>
            </a:r>
          </a:p>
        </p:txBody>
      </p:sp>
      <p:pic>
        <p:nvPicPr>
          <p:cNvPr id="9" name="Picture 8" descr="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01593"/>
            <a:ext cx="10652760" cy="2959100"/>
          </a:xfrm>
          <a:prstGeom prst="rect">
            <a:avLst/>
          </a:prstGeom>
        </p:spPr>
      </p:pic>
      <p:sp>
        <p:nvSpPr>
          <p:cNvPr id="10" name="audit:chart-caption"/>
          <p:cNvSpPr txBox="1"/>
          <p:nvPr/>
        </p:nvSpPr>
        <p:spPr>
          <a:xfrm>
            <a:off x="777240" y="6135624"/>
            <a:ext cx="10652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그래프 · 세션 비용 (USD) · turns.png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777240" y="63825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experiments/exp04_agent_loop_sdd.py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777240" y="65836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17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 (100콜)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캐싱 · 오늘 바로 켤 수 있는 레버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$8.55 → $3.22 (62.4% 절감)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쓰기 프리미엄은 두 번째 호출에서 회수된다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고정 블록(시스템 · 툴 정의 · 규약)을 맨 앞으로 모은다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최소 길이를 확인한다 — Haiku 4.5는 4,096토큰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experiments/exp03_prompt_caching.py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18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비용 시나리오 (100콜)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캐시는 조건이 맞을 때만 이득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261872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$8.55 → $3.219 (-62%)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029968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프리픽스를 매번 바꾸면 $10.05 (+17.5%)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254203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고정 블록을 앞으로 모아 적중률을 올린다</a:t>
            </a:r>
          </a:p>
        </p:txBody>
      </p:sp>
      <p:pic>
        <p:nvPicPr>
          <p:cNvPr id="9" name="Picture 8" descr="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01593"/>
            <a:ext cx="10652760" cy="2959100"/>
          </a:xfrm>
          <a:prstGeom prst="rect">
            <a:avLst/>
          </a:prstGeom>
        </p:spPr>
      </p:pic>
      <p:sp>
        <p:nvSpPr>
          <p:cNvPr id="10" name="audit:chart-caption"/>
          <p:cNvSpPr txBox="1"/>
          <p:nvPr/>
        </p:nvSpPr>
        <p:spPr>
          <a:xfrm>
            <a:off x="777240" y="6135624"/>
            <a:ext cx="10652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그래프 · 100콜 비용 (USD) · cache.png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777240" y="63825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experiments/exp03_prompt_caching.py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777240" y="65836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19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순차 시나리오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566928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다섯 레버를 겹치면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261872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잔여 14.18%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029968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시맨틱 캐시 → 라우팅 → 캐싱 → effort → 배치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254203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각 레버가 자기 조건을 만족할 때의 순차 산술</a:t>
            </a:r>
          </a:p>
        </p:txBody>
      </p:sp>
      <p:pic>
        <p:nvPicPr>
          <p:cNvPr id="9" name="Picture 8" descr="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01593"/>
            <a:ext cx="10652760" cy="2959100"/>
          </a:xfrm>
          <a:prstGeom prst="rect">
            <a:avLst/>
          </a:prstGeom>
        </p:spPr>
      </p:pic>
      <p:sp>
        <p:nvSpPr>
          <p:cNvPr id="10" name="audit:chart-caption"/>
          <p:cNvSpPr txBox="1"/>
          <p:nvPr/>
        </p:nvSpPr>
        <p:spPr>
          <a:xfrm>
            <a:off x="777240" y="6135624"/>
            <a:ext cx="10652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그래프 · 남은 비율 (%) · stack.png</a:t>
            </a:r>
          </a:p>
        </p:txBody>
      </p:sp>
      <p:sp>
        <p:nvSpPr>
          <p:cNvPr id="11" name="audit:source"/>
          <p:cNvSpPr txBox="1"/>
          <p:nvPr/>
        </p:nvSpPr>
        <p:spPr>
          <a:xfrm>
            <a:off x="777240" y="63825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experiments/exp06_other_levers.py</a:t>
            </a:r>
          </a:p>
        </p:txBody>
      </p:sp>
      <p:sp>
        <p:nvSpPr>
          <p:cNvPr id="12" name="audit:footer"/>
          <p:cNvSpPr txBox="1"/>
          <p:nvPr/>
        </p:nvSpPr>
        <p:spPr>
          <a:xfrm>
            <a:off x="777240" y="65836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20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경로 분리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웹 세션으로 넘기는 경로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구독제 경로는 증분 API 비용 0으로 모델링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조사·정리는 웹 세션에서, 코드는 API에서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옮겨 붙일 때 수용 기준 형식을 그대로 쓴다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이 경로의 증분 종량 비용은 0으로 모델링한다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lab/pricing.py TIER_SCENARIOS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21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운영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적용 순서와 측정 루프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켜고 → 재고 → 고친다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되돌리기 쉬운 것부터 켠다 (캐시 · effort · 배치)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적중률·reasoning 비율·턴 수를 주간으로 본다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절감률 목표가 아니라 품질 게이트를 먼저 정한다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agent_setup/antigravity/AGENTS.md · docs/CORRECTIONS.md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6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:index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TOKEN COST LAB  /  22</a:t>
            </a:r>
          </a:p>
        </p:txBody>
      </p:sp>
      <p:sp>
        <p:nvSpPr>
          <p:cNvPr id="4" name="audit:scope"/>
          <p:cNvSpPr txBox="1"/>
          <p:nvPr/>
        </p:nvSpPr>
        <p:spPr>
          <a:xfrm>
            <a:off x="5760720" y="2743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마무리</a:t>
            </a:r>
          </a:p>
        </p:txBody>
      </p:sp>
      <p:sp>
        <p:nvSpPr>
          <p:cNvPr id="5" name="audit:title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마무리 · 오늘 붙일 것 하나</a:t>
            </a:r>
          </a:p>
        </p:txBody>
      </p:sp>
      <p:sp>
        <p:nvSpPr>
          <p:cNvPr id="6" name="audit:hero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36D399"/>
                </a:solidFill>
                <a:latin typeface="NanumGothic"/>
                <a:ea typeface="NanumGothic"/>
                <a:cs typeface="NanumGothic"/>
              </a:rPr>
              <a:t>라우터 한 줄, 캐시 한 블록</a:t>
            </a:r>
          </a:p>
        </p:txBody>
      </p:sp>
      <p:sp>
        <p:nvSpPr>
          <p:cNvPr id="7" name="audit:body-0"/>
          <p:cNvSpPr txBox="1"/>
          <p:nvPr/>
        </p:nvSpPr>
        <p:spPr>
          <a:xfrm>
            <a:off x="777240" y="286207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규약 파일을 프리픽스로 고정한다</a:t>
            </a:r>
          </a:p>
        </p:txBody>
      </p:sp>
      <p:sp>
        <p:nvSpPr>
          <p:cNvPr id="8" name="audit:body-1"/>
          <p:cNvSpPr txBox="1"/>
          <p:nvPr/>
        </p:nvSpPr>
        <p:spPr>
          <a:xfrm>
            <a:off x="777240" y="3502152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기본 티어를 한 단계 낮추고 실패 시 올린다</a:t>
            </a:r>
          </a:p>
        </p:txBody>
      </p:sp>
      <p:sp>
        <p:nvSpPr>
          <p:cNvPr id="9" name="audit:body-2"/>
          <p:cNvSpPr txBox="1"/>
          <p:nvPr/>
        </p:nvSpPr>
        <p:spPr>
          <a:xfrm>
            <a:off x="777240" y="4142231"/>
            <a:ext cx="1065276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50" b="0">
                <a:solidFill>
                  <a:srgbClr val="ECF1F6"/>
                </a:solidFill>
                <a:latin typeface="NanumGothic"/>
                <a:ea typeface="NanumGothic"/>
                <a:cs typeface="NanumGothic"/>
              </a:rPr>
              <a:t>다음 주에 같은 작업의 비용을 다시 잰다</a:t>
            </a:r>
          </a:p>
        </p:txBody>
      </p:sp>
      <p:sp>
        <p:nvSpPr>
          <p:cNvPr id="10" name="audit:source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github.com/giyeop-cody/token-cost-lab</a:t>
            </a:r>
          </a:p>
        </p:txBody>
      </p:sp>
      <p:sp>
        <p:nvSpPr>
          <p:cNvPr id="11" name="audit:footer"/>
          <p:cNvSpPr txBox="1"/>
          <p:nvPr/>
        </p:nvSpPr>
        <p:spPr>
          <a:xfrm>
            <a:off x="640080" y="641908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93A4B5"/>
                </a:solidFill>
                <a:latin typeface="NanumGothic"/>
                <a:ea typeface="NanumGothic"/>
                <a:cs typeface="NanumGothic"/>
              </a:rPr>
              <a:t>2026-09-20  ·  근거와 조건을 함께 인용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작은 모델이 지휘한다</dc:title>
  <dc:subject>Cost-saving talk, 2026-09-20</dc:subject>
  <dc:creator>token-cost-lab</dc:creator>
  <cp:keywords>speaker notes carry scope and limits; see docs/CORRECTIONS.md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