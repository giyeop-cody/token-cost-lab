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인사와 함께 오늘 목표를 한 줄로 말한다: "같은 결과물을 더 싸게 사는 방법".</a:t>
            </a:r>
          </a:p>
          <a:p>
            <a:r>
              <a:t>세 가지 청구 항목(입력·출력·사고)을 미리 짚어 두면 뒤의 숫자가 이해된다.</a:t>
            </a:r>
          </a:p>
          <a:p>
            <a:r>
              <a:t>숫자의 성격(실측/재계산/가정)을 먼저 밝힌다 — 질문이 몰리지 않는다.</a:t>
            </a:r>
          </a:p>
          <a:p>
            <a:r>
              <a:t>근거: github.com/giyeop-cody/token-cost-lab</a:t>
            </a:r>
          </a:p>
          <a:p>
            <a:r>
              <a:t>증거 범위: 발표 · 2026-09-20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원칙을 한 장으로 선요약한다. 청중이 결론을 미리 알고 들으면 뒤가 훨씬 빨리 이해된다.</a:t>
            </a:r>
          </a:p>
          <a:p>
            <a:r>
              <a:t>원칙은 유지한다는 점을 명확히 한다. 오늘 바뀌는 것은 원칙이 아니라 숫자의 조건과 증거다.</a:t>
            </a:r>
          </a:p>
          <a:p>
            <a:r>
              <a:t>질문이 나오면 "뒤에서 근거와 한계를 함께 말한다"고 안내하고 넘어간다.</a:t>
            </a:r>
          </a:p>
          <a:p>
            <a:r>
              <a:t>근거: README.md</a:t>
            </a:r>
          </a:p>
          <a:p>
            <a:r>
              <a:t>증거 범위: 결론 요약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입력은 한 번에 병렬 처리되고 출력은 한 토큰씩 생성되기 때문에 단가가 다르다.</a:t>
            </a:r>
          </a:p>
          <a:p>
            <a:r>
              <a:t>캐시 읽기 단가는 입력의 0.1배 수준(모델별로 다름)이다. 이 비대칭이 오늘 전략의 근거다.</a:t>
            </a:r>
          </a:p>
          <a:p>
            <a:r>
              <a:t>가격은 공개 리스트 기준이며 계약·무료 티어·세금·도구 비용은 별도다. 실제 청구서로 검증해야 한다.</a:t>
            </a:r>
          </a:p>
          <a:p>
            <a:r>
              <a:t>근거: experiments/exp02_output_to_input.py</a:t>
            </a:r>
          </a:p>
          <a:p>
            <a:r>
              <a:t>증거 범위: 가격표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공개 리스트 단가이며 계약·무료 티어·세금·도구 비용은 별도다.</a:t>
            </a:r>
          </a:p>
          <a:p>
            <a:r>
              <a:t>출력÷입력 배수는 모델별로 4~8배다. 같은 배수를 모든 모델에 적용하지 않는다.</a:t>
            </a:r>
          </a:p>
          <a:p>
            <a:r>
              <a:t>Gemini 3.8/3.6 Flash의 인트로 단가는 2026-12-31까지이며 이후 2배가 된다 — 표에 넣은 값의 기준일을 밝힌다.</a:t>
            </a:r>
          </a:p>
          <a:p>
            <a:r>
              <a:t>근거: lab/pricing.py MODELS</a:t>
            </a:r>
          </a:p>
          <a:p>
            <a:r>
              <a:t>증거 범위: 가격표 스냅샷 (2026-09-20)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 값은 모델별 공개 단가이며 계약·배치·장문 할증은 별도다.</a:t>
            </a:r>
          </a:p>
          <a:p>
            <a:r>
              <a:t>출력÷입력과 캐시 읽기 배수는 모델마다 다르다 — 같은 배수를 일반화하지 않는다.</a:t>
            </a:r>
          </a:p>
          <a:p>
            <a:r>
              <a:t>인트로 단가(Gemini 3.8/3.6 Flash)는 2026-12-31까지이며 이후 2배가 된다.</a:t>
            </a:r>
          </a:p>
          <a:p>
            <a:r>
              <a:t>값을 손으로 옮겨 적지 않는다. 이 표는 생성기가 pricing에서 직접 만든다.</a:t>
            </a:r>
          </a:p>
          <a:p>
            <a:r>
              <a:t>근거: lab/pricing.py MODELS</a:t>
            </a:r>
          </a:p>
          <a:p>
            <a:r>
              <a:t>증거 범위: 가격표 스냅샷 (2026-09-20)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구간을 나눠 청중이 지금 무엇을 듣는지 알게 한다.</a:t>
            </a:r>
          </a:p>
          <a:p>
            <a:r>
              <a:t>이 구간에서는 한국어 출력 토큰 배수와 글자 수 청킹 문제를 다룬다.</a:t>
            </a:r>
          </a:p>
          <a:p>
            <a:r>
              <a:t>근거: README.md</a:t>
            </a:r>
          </a:p>
          <a:p>
            <a:r>
              <a:t>증거 범위: 구간 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숫자는 토큰 합계의 비율이다. 대응 번역문이므로 '같은 내용'이라는 전제가 성립한다.</a:t>
            </a:r>
          </a:p>
          <a:p>
            <a:r>
              <a:t>이 배수를 그대로 비용으로 환산하지 않는다. 실제 비용은 생성 길이와 사고량이 함께 결정한다.</a:t>
            </a:r>
          </a:p>
          <a:p>
            <a:r>
              <a:t>반례도 있다: 모델·과제·언어별로 효과가 다르다. 자기 워크로드로 다시 측정하는 것이 결론이다.</a:t>
            </a:r>
          </a:p>
          <a:p>
            <a:r>
              <a:t>답변 언어를 바꾸라고 말하는 것이 아니라, 내부 추론 단계에서 영어 활용을 권하는 것이다.</a:t>
            </a:r>
          </a:p>
          <a:p>
            <a:r>
              <a:t>근거: tools/parallel_tokenizer_bench.py · FLORES-200 devtest</a:t>
            </a:r>
          </a:p>
          <a:p>
            <a:r>
              <a:t>증거 범위: 로컬 토크나이저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청킹을 글자 수 기준으로 잡으면 한국어 청크만 조용히 잘리거나 한도를 넘는다.</a:t>
            </a:r>
          </a:p>
          <a:p>
            <a:r>
              <a:t>토큰/글자 비율은 인코딩 비율이지 내용·의미의 비율이 아니다. 글자 수를 의미량으로 읽으면 틀린다.</a:t>
            </a:r>
          </a:p>
          <a:p>
            <a:r>
              <a:t>실무 규칙: 청크 상한은 토크나이저로 세고, 글자 수 기준값에 안전계수를 두지 말고 토큰으로 통일한다.</a:t>
            </a:r>
          </a:p>
          <a:p>
            <a:r>
              <a:t>근거: experiments/exp01_tokenizer_ko_en.py</a:t>
            </a:r>
          </a:p>
          <a:p>
            <a:r>
              <a:t>증거 범위: 인코딩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배수는 토큰 합계의 비율이다. 대응 번역문이므로 '같은 내용' 전제가 성립한다.</a:t>
            </a:r>
          </a:p>
          <a:p>
            <a:r>
              <a:t>이 배수를 그대로 비용으로 환산하지 않는다. 비용은 생성 길이와 사고량이 함께 결정한다.</a:t>
            </a:r>
          </a:p>
          <a:p>
            <a:r>
              <a:t>토큰/글자는 인코딩 비율이지 내용·의미의 비율이 아니다.</a:t>
            </a:r>
          </a:p>
          <a:p>
            <a:r>
              <a:t>근거: tools/parallel_tokenizer_bench.py · FLORES-200 devtest</a:t>
            </a:r>
          </a:p>
          <a:p>
            <a:r>
              <a:t>증거 범위: 로컬 토크나이저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출력 단가가 입력의 4~8배라는 사실에서 출발하는 구간이다.</a:t>
            </a:r>
          </a:p>
          <a:p>
            <a:r>
              <a:t>여기서 말하는 절감은 단가표와 턴 가정 위의 계산이다.</a:t>
            </a:r>
          </a:p>
          <a:p>
            <a:r>
              <a:t>근거: README.md</a:t>
            </a:r>
          </a:p>
          <a:p>
            <a:r>
              <a:t>증거 범위: 구간 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결과물을 세 가지 설명 스타일로 생성해 인코딩 토큰을 측정한 값이다(보통 90토큰, 장황 342토큰).</a:t>
            </a:r>
          </a:p>
          <a:p>
            <a:r>
              <a:t>품질·정확도 동등성을 별도로 검정한 것은 아니다. 어려운 작업에서는 설명이 검증에 필요할 수 있다.</a:t>
            </a:r>
          </a:p>
          <a:p>
            <a:r>
              <a:t>발표에서는 '실무 기준선은 자기 작업에서 재측정'을 반드시 덧붙인다.</a:t>
            </a:r>
          </a:p>
          <a:p>
            <a:r>
              <a:t>근거: experiments/exp05_verbosity_effort.py</a:t>
            </a:r>
          </a:p>
          <a:p>
            <a:r>
              <a:t>증거 범위: 인코딩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사고 토큰은 눈에 안 보이지만 출력 단가로 청구된다. 단계별 비용은 사고량 가정의 시나리오다.</a:t>
            </a:r>
          </a:p>
          <a:p>
            <a:r>
              <a:t>effort를 낮추면 어려운 작업의 정확도가 떨어질 수 있다. '전부 낮춰라'가 아니라 '작업에 맞춰라'다.</a:t>
            </a:r>
          </a:p>
          <a:p>
            <a:r>
              <a:t>정확도 게이트를 함께 두고 배분표를 만들 것을 권한다.</a:t>
            </a:r>
          </a:p>
          <a:p>
            <a:r>
              <a:t>근거: experiments/exp05_verbosity_effort.py</a:t>
            </a:r>
          </a:p>
          <a:p>
            <a:r>
              <a:t>증거 범위: 시나리오 (사고 토큰 가정)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40턴→12턴 감소는 모델의 입력 가정이지 관측이 아니다. 실제 턴 감소는 미측정이다.</a:t>
            </a:r>
          </a:p>
          <a:p>
            <a:r>
              <a:t>예열 캐시를 가정하면 71.0%가 나오지만, 기본값은 사이클마다 첫 쓰기 비용을 포함한 68.7%다.</a:t>
            </a:r>
          </a:p>
          <a:p>
            <a:r>
              <a:t>외부 반례: 저장소 컨텍스트 파일을 자동 생성하면 비용이 늘고 성공률이 떨어진 조건도 보고됐다. 결론은 '짧고 결정만'.</a:t>
            </a:r>
          </a:p>
          <a:p>
            <a:r>
              <a:t>근거: experiments/exp04_agent_loop_sdd.py</a:t>
            </a:r>
          </a:p>
          <a:p>
            <a:r>
              <a:t>증거 범위: 비용 시나리오 (턴 가정)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청구서가 아니라 단가표와 토큰 가정으로 계산한 월 금액이다.</a:t>
            </a:r>
          </a:p>
          <a:p>
            <a:r>
              <a:t>출력이 비싼 모델일수록 격차가 크다(Opus·Sonnet -66%, GPT-5 -69%).</a:t>
            </a:r>
          </a:p>
          <a:p>
            <a:r>
              <a:t>실제 지출은 재시도·도구 사용·사람 시간이 더해진다.</a:t>
            </a:r>
          </a:p>
          <a:p>
            <a:r>
              <a:t>근거: experiments/exp02_output_to_input.py</a:t>
            </a:r>
          </a:p>
          <a:p>
            <a:r>
              <a:t>증거 범위: 가정 시나리오 (월 1,760건)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 비용은 턴 수의 2차 함수다. '한 번 더 물어보기'가 싼 행동이 아니다.</a:t>
            </a:r>
          </a:p>
          <a:p>
            <a:r>
              <a:t>추상화 레이어 3개를 미리 만든 경우 20턴 세션에서 추가 재전송 비용 $0.270이 붙는다(가정).</a:t>
            </a:r>
          </a:p>
          <a:p>
            <a:r>
              <a:t>턴을 줄이는 가장 확실한 수단은 요구사항을 먼저 확정하는 것이다.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8,000토큰 프리픽스, 턴당 입력 2,000·출력 800, Sonnet 단가의 계산이다.</a:t>
            </a:r>
          </a:p>
          <a:p>
            <a:r>
              <a:t>컴팩션 주기는 요약 비용과 품질·재작업을 함께 측정해 정한다.</a:t>
            </a:r>
          </a:p>
          <a:p>
            <a:r>
              <a:t>실제 세션 비용은 도구 출력과 파일 재전송으로 더 커진다.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캐시·압축·컴팩션·툴 출력은 서로 대체재가 아니다.</a:t>
            </a:r>
          </a:p>
          <a:p>
            <a:r>
              <a:t>적중률과 미스 비용을 함께 봐야 한다.</a:t>
            </a:r>
          </a:p>
          <a:p>
            <a:r>
              <a:t>근거: README.md</a:t>
            </a:r>
          </a:p>
          <a:p>
            <a:r>
              <a:t>증거 범위: 구간 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8,000토큰 프리픽스, 턴당 입력 2,000·출력 800의 계산이다.</a:t>
            </a:r>
          </a:p>
          <a:p>
            <a:r>
              <a:t>이력 재전송은 캐시 프리픽스로 접을 수 있다. 실제 적중 여부는 배치에 달렸다.</a:t>
            </a:r>
          </a:p>
          <a:p>
            <a:r>
              <a:t>출력은 단가가 비싸므로 비중이 작아도 금액 기여는 별도로 봐야 한다.</a:t>
            </a:r>
          </a:p>
          <a:p>
            <a:r>
              <a:t>근거: experiments/exp04_agent_loop_sdd.py</a:t>
            </a:r>
          </a:p>
          <a:p>
            <a:r>
              <a:t>증거 범위: 비용 시나리오 (20턴)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히트율은 가정값이다. 실제 값은 자기 usage의 cache_read 필드로 측정해야 한다.</a:t>
            </a:r>
          </a:p>
          <a:p>
            <a:r>
              <a:t>저장료·TTL·최소 길이는 모델별로 다르다. 미확인 기준은 할인 가정을 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적중률은 관측값이 아니라 가정 축이다. 자기 usage의 cache_read로 실측해야 한다.</a:t>
            </a:r>
          </a:p>
          <a:p>
            <a:r>
              <a:t>캐시 저장료·TTL·최소 길이는 별도 조건이며, 미확인 모델은 할인을 가정하지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캐시는 프리픽스를 단위로 매칭한다. 앞부분이 한 글자만 달라도 전액을 다시 낸다.</a:t>
            </a:r>
          </a:p>
          <a:p>
            <a:r>
              <a:t>히트율 0%에서는 쓰기 프리미엄만 계속 물어 캐시 없음($8.55)보다 비싸진다($10.05).</a:t>
            </a:r>
          </a:p>
          <a:p>
            <a:r>
              <a:t>반대로 히트율이 40%만 넘어도 이미 이득이다. 그래서 '켜고, 적중률을 본다'가 순서다.</a:t>
            </a:r>
          </a:p>
          <a:p>
            <a:r>
              <a:t>근거: experiments/exp03_prompt_caching.py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히트율은 가정값이다. 실제 값은 자기 usage의 cache_read 필드로 측정한다.</a:t>
            </a:r>
          </a:p>
          <a:p>
            <a:r>
              <a:t>저장료·TTL·최소 길이는 모델별로 다르다. 미확인 기준은 할인 가정을 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12,000토큰을 매번 보내던 세션을 절반으로 줄이고 캐시까지 걸었을 때의 산술이다.</a:t>
            </a:r>
          </a:p>
          <a:p>
            <a:r>
              <a:t>압축률과 정확도는 작업별로 다르다. 지시·수용 기준을 지우면 요구사항이 바뀐다.</a:t>
            </a:r>
          </a:p>
          <a:p>
            <a:r>
              <a:t>압축기 실행 비용과 지연도 손익에 포함해야 한다. 짧은 프롬프트는 압축이 손해일 수 있다.</a:t>
            </a:r>
          </a:p>
          <a:p>
            <a:r>
              <a:t>압축 자체의 지연·품질 손실은 이 계산 밖이다.</a:t>
            </a:r>
          </a:p>
          <a:p>
            <a:r>
              <a:t>근거: experiments/exp09_dry.py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20턴 세션에 캐싱만 걸면 $1.91(+17%) — 이력 누적은 그대로 남기 때문이다.</a:t>
            </a:r>
          </a:p>
          <a:p>
            <a:r>
              <a:t>요약은 품질에 영향을 준다. 압축 과정에서 잃는 정보가 재작업을 만들면 절감이 상쇄된다.</a:t>
            </a:r>
          </a:p>
          <a:p>
            <a:r>
              <a:t>주기를 바꿔 가며 재작업률과 총비용을 함께 측정할 것을 권한다.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툴 작업량을 가정하고 메인·자식·요약 비용을 모두 합산한 값이다.</a:t>
            </a:r>
          </a:p>
          <a:p>
            <a:r>
              <a:t>서브에이전트는 요약 품질과 실패·재시도 특성이 다르다. 비용만으로 우열을 단정하지 않는다.</a:t>
            </a:r>
          </a:p>
          <a:p>
            <a:r>
              <a:t>과거의 -87%는 자식·요약을 빼고 계산한 값이어서 전체 절감으로 쓰지 않는다.</a:t>
            </a:r>
          </a:p>
          <a:p>
            <a:r>
              <a:t>근거: experiments/exp11_tool_output_bloat.py</a:t>
            </a:r>
          </a:p>
          <a:p>
            <a:r>
              <a:t>증거 범위: 전체 시스템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벤치마크에서 잡은 임계값을 그대로 프로덕션에 쓰면 절감이 과대 추정된다.</a:t>
            </a:r>
          </a:p>
          <a:p>
            <a:r>
              <a:t>저볼륨에서는 라우팅 오버헤드가 절감을 상쇄한다. 반복률과 볼륨을 먼저 본다.</a:t>
            </a:r>
          </a:p>
          <a:p>
            <a:r>
              <a:t>라우터 오류율·검출률은 이 저장소에서 측정하지 않았다. 참조 구현의 회귀 테스트만 있다.</a:t>
            </a:r>
          </a:p>
          <a:p>
            <a:r>
              <a:t>근거: experiments/exp06_other_levers.py</a:t>
            </a:r>
          </a:p>
          <a:p>
            <a:r>
              <a:t>증거 범위: 시나리오 (10,000콜)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토큰 수는 그대로이고 지원 서비스에서 가격을 줄이는 레버다.</a:t>
            </a:r>
          </a:p>
          <a:p>
            <a:r>
              <a:t>실시간 UI, 대화형 코딩 에이전트처럼 대기 화면이 있는 작업에는 쓸 수 없다.</a:t>
            </a:r>
          </a:p>
          <a:p>
            <a:r>
              <a:t>지연·실패 처리·지원 조건(요청 수 상한, 결과 보관 기간)을 확인해야 한다.</a:t>
            </a:r>
          </a:p>
          <a:p>
            <a:r>
              <a:t>근거: experiments/exp06_other_levers.py</a:t>
            </a:r>
          </a:p>
          <a:p>
            <a:r>
              <a:t>증거 범위: 가격표 +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조건 모두 추정 usage와 가정으로 만든 비용 모형이다. 실제 정책 A/B가 아니다.</a:t>
            </a:r>
          </a:p>
          <a:p>
            <a:r>
              <a:t>품질 동등성이나 완료 작업당 절감률은 검증하지 않았다.</a:t>
            </a:r>
          </a:p>
          <a:p>
            <a:r>
              <a:t>기존 20.8배는 역사적 가정(사고 언어 승수 1.44, 캐시 최소 길이 무시)으로 보존한다.</a:t>
            </a:r>
          </a:p>
          <a:p>
            <a:r>
              <a:t>근거: demo/compare_personas.py</a:t>
            </a:r>
          </a:p>
          <a:p>
            <a:r>
              <a:t>증거 범위: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발화를 두 정책으로 처리했을 때의 지출 차이다. 실제 A/B 실측이 아니다.</a:t>
            </a:r>
          </a:p>
          <a:p>
            <a:r>
              <a:t>'12배' 같은 큰 수치는 대조군을 최상위 모델로 잡았을 때만 나온다 — 그 조건을 말하지 않으면 과장이 된다.</a:t>
            </a:r>
          </a:p>
          <a:p>
            <a:r>
              <a:t>1턴·2턴처럼 짧은 리워크에서도 이득이 나는지가 도입 판단의 핵심이다.</a:t>
            </a:r>
          </a:p>
          <a:p>
            <a:r>
              <a:t>이 값은 정책 지출 모형의 재생값이다. respec 경로는 실행을 하지 않으므로 지출이 늘지 않는다.</a:t>
            </a:r>
          </a:p>
          <a:p>
            <a:r>
              <a:t>근거: analysis/lean_vs_full.py</a:t>
            </a:r>
          </a:p>
          <a:p>
            <a:r>
              <a:t>증거 범위: 정책 시나리오 재생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레버의 절감률을 순서대로 곱한 값이다. 실제 도입에서는 서로 겹치는 부분이 생긴다.</a:t>
            </a:r>
          </a:p>
          <a:p>
            <a:r>
              <a:t>검증된 상한도 아니다. 자기 데이터로 A/B를 돌려 확정해야 한다.</a:t>
            </a:r>
          </a:p>
          <a:p>
            <a:r>
              <a:t>레버별 적용 조건(히트율·라우팅 임계값·배치 가능성)이 다르다.</a:t>
            </a:r>
          </a:p>
          <a:p>
            <a:r>
              <a:t>근거: experiments/exp06_other_levers.py</a:t>
            </a:r>
          </a:p>
          <a:p>
            <a:r>
              <a:t>증거 범위: 순차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비교는 자동(-1) 대 미지정이다. 명시적 0과 섞으면 결론이 달라진다.</a:t>
            </a:r>
          </a:p>
          <a:p>
            <a:r>
              <a:t>±$0.05 허용오차 통과는 미지정 6/6 · 명시적 0은 5/6이며 동등성 증명이 아니다.</a:t>
            </a:r>
          </a:p>
          <a:p>
            <a:r>
              <a:t>구모델의 thinkingBudget 로그는 역사적 관측으로 보존한다.</a:t>
            </a:r>
          </a:p>
          <a:p>
            <a:r>
              <a:t>근거: results/thinking_sweep.jsonl (30 rows)</a:t>
            </a:r>
          </a:p>
          <a:p>
            <a:r>
              <a:t>증거 범위: 저장 API 로그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비교는 자동(-1) 대 미지정이다. 명시적 0과 섞으면 결론이 달라진다.</a:t>
            </a:r>
          </a:p>
          <a:p>
            <a:r>
              <a:t>±$0.05 허용오차 통과는 미지정 6/6 · 명시적 0은 5/6이다. 정확한 숫자 채점으로는 3/6이 된다 — 동등성 증명이 아니다.</a:t>
            </a:r>
          </a:p>
          <a:p>
            <a:r>
              <a:t>구모델의 thinkingBudget 로그는 역사적 관측으로 보존한다. 현재 API는 thinkingLevel을 쓴다.</a:t>
            </a:r>
          </a:p>
          <a:p>
            <a:r>
              <a:t>근거: results/thinking_sweep.jsonl (30 rows)</a:t>
            </a:r>
          </a:p>
          <a:p>
            <a:r>
              <a:t>증거 범위: 저장 API 로그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호출당 비용과 문자당 비용은 다른 질문에 대한 답이다. 하나로 다른 것을 대신하지 않는다.</a:t>
            </a:r>
          </a:p>
          <a:p>
            <a:r>
              <a:t>'한국어가 일을 덜 했다'거나 '싸 보이는 착시'로 해석하지 않는다.</a:t>
            </a:r>
          </a:p>
          <a:p>
            <a:r>
              <a:t>검정은 Welch로 계산했고 네 비교 모두 유의하다. 다만 반복 호출의 조건부 검정이며 의미량·정확도 검정이 아니다.</a:t>
            </a:r>
          </a:p>
          <a:p>
            <a:r>
              <a:t>근거: tools/stats_test.py · storage logs</a:t>
            </a:r>
          </a:p>
          <a:p>
            <a:r>
              <a:t>증거 범위: 저장 로그 80행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사례는 표본 1쌍이며 청구 usage가 아니라 추정치다.</a:t>
            </a:r>
          </a:p>
          <a:p>
            <a:r>
              <a:t>마지막 구간에서 적용 순서와 측정 루프를 정리한다.</a:t>
            </a:r>
          </a:p>
          <a:p>
            <a:r>
              <a:t>근거: README.md</a:t>
            </a:r>
          </a:p>
          <a:p>
            <a:r>
              <a:t>증거 범위: 구간 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청구 usage가 아니라 세션 추정치다. 절대값과 상대 차이 모두 추정 오차가 있다.</a:t>
            </a:r>
          </a:p>
          <a:p>
            <a:r>
              <a:t>캐시 적격성은 확인하지 않았다. 전부 신규 입력으로 환산한 값도 함께 공개한다.</a:t>
            </a:r>
          </a:p>
          <a:p>
            <a:r>
              <a:t>Spec 산출물은 Vibe 결과를 역산한 것이다. 백지 스펙 작성 비용과 재작업 감소는 통제하지 않았다.</a:t>
            </a:r>
          </a:p>
          <a:p>
            <a:r>
              <a:t>표본 1쌍의 사례이며 일반화하지 않는다.</a:t>
            </a:r>
          </a:p>
          <a:p>
            <a:r>
              <a:t>근거: demo/vibe_vs_spec/README.md</a:t>
            </a:r>
          </a:p>
          <a:p>
            <a:r>
              <a:t>증거 범위: 추정 usage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세션 추정치이며 실제 청구 usage가 아니다. 표본 1쌍이다.</a:t>
            </a:r>
          </a:p>
          <a:p>
            <a:r>
              <a:t>추론 토큰은 출력 요율로 과금된다는 가정을 쓴다.</a:t>
            </a:r>
          </a:p>
          <a:p>
            <a:r>
              <a:t>표의 버킷 정의(비캐시 입력·출력·캐시)는 벤더 usage 필드와 이름이 같다고 가정하면 이중 계상할 수 있다.</a:t>
            </a:r>
          </a:p>
          <a:p>
            <a:r>
              <a:t>근거: demo/vibe_vs_spec/usage.json</a:t>
            </a:r>
          </a:p>
          <a:p>
            <a:r>
              <a:t>증거 범위: 추정치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문자열 검사는 동작을 보증하지 않는다. 그래서 실제 브라우저 렌더링을 검사한다.</a:t>
            </a:r>
          </a:p>
          <a:p>
            <a:r>
              <a:t>변조 반례(모바일을 2열로 바꾼 HTML)를 넣어 검사가 실제로 실패하는지도 확인했다.</a:t>
            </a:r>
          </a:p>
          <a:p>
            <a:r>
              <a:t>브라우저가 없으면 PASS가 아니라 UNVERIFIED로 종료한다. 검사 항목 수는 실행 로그에 있다.</a:t>
            </a:r>
          </a:p>
          <a:p>
            <a:r>
              <a:t>디자인 선호와 품질 동등성은 검증 대상이 아니다.</a:t>
            </a:r>
          </a:p>
          <a:p>
            <a:r>
              <a:t>근거: demo/vibe_vs_spec/verify_ac.py</a:t>
            </a:r>
          </a:p>
          <a:p>
            <a:r>
              <a:t>증거 범위: 실동작 검사 (Chromium)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다른 모델을 실행한 실측이 아니라 같은 추정 토큰의 산술이다.</a:t>
            </a:r>
          </a:p>
          <a:p>
            <a:r>
              <a:t>캐시 적격성은 확인하지 않았고, 캐시 미적용 환산이 가장 보수적인 8.1%다.</a:t>
            </a:r>
          </a:p>
          <a:p>
            <a:r>
              <a:t>실제 청구서 대조는 하지 않았다.</a:t>
            </a:r>
          </a:p>
          <a:p>
            <a:r>
              <a:t>근거: presentation/case_vibe_vs_spec/cost_comparison.md</a:t>
            </a:r>
          </a:p>
          <a:p>
            <a:r>
              <a:t>증거 범위: 단가별 비용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난이도는 되돌리기 쉬운 순서이기도 하다. 앞의 3개는 설정 변경으로 시작할 수 있다.</a:t>
            </a:r>
          </a:p>
          <a:p>
            <a:r>
              <a:t>라우팅과 시맨틱 캐시는 품질 측정 도구가 있어야 안전하다.</a:t>
            </a:r>
          </a:p>
          <a:p>
            <a:r>
              <a:t>우선순위 표에 적힌 조건(모델별 최소 프리픽스 길이 등)을 실제로 확인하고 켠다.</a:t>
            </a:r>
          </a:p>
          <a:p>
            <a:r>
              <a:t>근거: experiments/exp06_other_levers.py</a:t>
            </a:r>
          </a:p>
          <a:p>
            <a:r>
              <a:t>증거 범위: 적용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측정 없이 절감률을 목표로 잡으면 품질을 깎아서 숫자를 맞추게 된다.</a:t>
            </a:r>
          </a:p>
          <a:p>
            <a:r>
              <a:t>적용 후 재측정을 하지 않으면 프롬프트가 바뀌면서 효과가 조용히 사라진다.</a:t>
            </a:r>
          </a:p>
          <a:p>
            <a:r>
              <a:t>캐시 적중률이 50% 아래면 프롬프트 앞부분의 변동 요소를 먼저 의심한다.</a:t>
            </a:r>
          </a:p>
          <a:p>
            <a:r>
              <a:t>근거: README.md</a:t>
            </a:r>
          </a:p>
          <a:p>
            <a:r>
              <a:t>증거 범위: 적용 절차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가지 모두 '켜면 좋다'는 조치를 조건 없이 적용해서 생긴다.</a:t>
            </a:r>
          </a:p>
          <a:p>
            <a:r>
              <a:t>특히 캐싱은 켠 상태에서 미스가 나면 비용이 더 늘어난다 — 적중률을 보지 않으면 손해다.</a:t>
            </a:r>
          </a:p>
          <a:p>
            <a:r>
              <a:t>사고 예산은 지정하지 않으면 기본값이 정한다. 기본값을 모르면 청구서를 예측할 수 없다.</a:t>
            </a:r>
          </a:p>
          <a:p>
            <a:r>
              <a:t>근거: docs/CORRECTIONS.md</a:t>
            </a:r>
          </a:p>
          <a:p>
            <a:r>
              <a:t>증거 범위: 실무 체크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캐시는 비용 레버이면서 데이터 보존 문제다. 개인정보가 섞인 접두부는 캐싱 대상에서 뺀다.</a:t>
            </a:r>
          </a:p>
          <a:p>
            <a:r>
              <a:t>시맨틱 캐시는 질의가 비슷할 때 호출 자체를 제거한다. 히트율보다 오답 위험이 먼저다.</a:t>
            </a:r>
          </a:p>
          <a:p>
            <a:r>
              <a:t>TTL과 삭제 시점을 벤더 문서 기준으로 확인하고 기록해 둔다.</a:t>
            </a:r>
          </a:p>
          <a:p>
            <a:r>
              <a:t>근거: experiments/exp06_other_levers.py</a:t>
            </a:r>
          </a:p>
          <a:p>
            <a:r>
              <a:t>증거 범위: 운영 주의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터미널에서 오늘 본 표를 그대로 다시 볼 수 있다. 유료 API 호출은 0회다.</a:t>
            </a:r>
          </a:p>
          <a:p>
            <a:r>
              <a:t>덱의 모든 텍스트는 생성 원천과 대조해 검증한다. 숫자를 손으로 고치면 검증이 실패한다.</a:t>
            </a:r>
          </a:p>
          <a:p>
            <a:r>
              <a:t>검증 항목 수는 본문에 고정하지 않고 실행 결과 파일로 남긴다.</a:t>
            </a:r>
          </a:p>
          <a:p>
            <a:r>
              <a:t>근거: tools/reproduce_audit.py</a:t>
            </a:r>
          </a:p>
          <a:p>
            <a:r>
              <a:t>증거 범위: 재현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다 적용하지 말고 되돌리기 쉬운 것 하나만 켜고 재측정한다.</a:t>
            </a:r>
          </a:p>
          <a:p>
            <a:r>
              <a:t>절감률은 자기 데이터에서 나온 값이어야 한다. 이 자료의 숫자는 출발점이다.</a:t>
            </a:r>
          </a:p>
          <a:p>
            <a:r>
              <a:t>발표 자료의 근거·한계·정정 이력은 저장소 문서에 그대로 남아 있다.</a:t>
            </a:r>
          </a:p>
          <a:p>
            <a:r>
              <a:t>근거: github.com/giyeop-cody/token-cost-lab</a:t>
            </a:r>
          </a:p>
          <a:p>
            <a:r>
              <a:t>증거 범위: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발표 · 2026-09-20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시키지도 않은 시공비 청구서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결과물, 다른 청구서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모델은 세 가지로 청구한다 — 입력 · 출력 · 사고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오늘은 그 청구서를 줄이는 습관 다섯 가지를 다룬다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숫자는 실측 · 로그 재계산 · 가정 시나리오를 구분해 말한다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결론 요약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오늘 가져갈 결론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비용은 모델이 아니라 습관이 만든다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영어로 생각하고, 필요한 언어로 답한다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설명은 최소로, 추론 강도는 작업에 맞춰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결정을 스펙으로 먼저 주고, 반복되는 접두부는 캐싱한다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청구서의 구조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출력은 입력의 2~8배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캐시된 입력과 비교하면 최대 50배까지 벌어진다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사고 토큰은 출력 단가로 청구된다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그래서 '덜 쓰기'보다 '다시 안 보내기'가 크다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experiments/exp02_output_to_input.py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스냅샷 (2026-09-20)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토큰, 다른 단가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출력은 입력의 4~8배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비싼 쪽(출력)을 줄이는 습관이 먼저다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읽기는 입력의 0.1배 — 캐시가 있는 이유</a:t>
            </a:r>
          </a:p>
        </p:txBody>
      </p:sp>
      <p:pic>
        <p:nvPicPr>
          <p:cNvPr id="9" name="Picture 8" descr="p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단가 스냅샷 (USD / 100만 토큰) · prices.png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lab/pricing.py MODELS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스냅샷 (2026-09-20)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 표로 다시 보기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출력÷입력 4~8배, 캐시 읽기 0.02~0.1배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단가는 2026-09-20 공개 리스트 스냅샷 (USD / 100만 토큰)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라이브 조회값이 아니라 저장된 표라서, 갱신은 한 곳에서 한다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2761488"/>
          <a:ext cx="10652760" cy="2816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37560"/>
                <a:gridCol w="1828800"/>
                <a:gridCol w="1828800"/>
                <a:gridCol w="1828800"/>
                <a:gridCol w="182880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6D399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모델</a:t>
                      </a:r>
                    </a:p>
                  </a:txBody>
                  <a:tcPr marL="82296" marR="82296" marT="18288" marB="18288">
                    <a:solidFill>
                      <a:srgbClr val="1B2A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6D399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입력 $/1M</a:t>
                      </a:r>
                    </a:p>
                  </a:txBody>
                  <a:tcPr marL="82296" marR="82296" marT="18288" marB="18288">
                    <a:solidFill>
                      <a:srgbClr val="1B2A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6D399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출력 $/1M</a:t>
                      </a:r>
                    </a:p>
                  </a:txBody>
                  <a:tcPr marL="82296" marR="82296" marT="18288" marB="18288">
                    <a:solidFill>
                      <a:srgbClr val="1B2A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6D399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출력÷입력</a:t>
                      </a:r>
                    </a:p>
                  </a:txBody>
                  <a:tcPr marL="82296" marR="82296" marT="18288" marB="18288">
                    <a:solidFill>
                      <a:srgbClr val="1B2A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6D399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캐시 읽기</a:t>
                      </a:r>
                    </a:p>
                  </a:txBody>
                  <a:tcPr marL="82296" marR="82296" marT="18288" marB="18288">
                    <a:solidFill>
                      <a:srgbClr val="1B2A3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Claude Opus 4.6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$25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5배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0.1배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Claude Sonnet 4.6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$3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$15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5배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0.1배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GPT-5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$1.25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$10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8배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0.1배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Gemini 3.1 Pro Preview (≤200k)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$2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$12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6배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0.1배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Gemini 3.1 Flash-Lite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$0.25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$1.5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6배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0.1배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DeepSeek V4.1 Flash (peak)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$0.3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$1.2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4배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0.02배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10" name="audit:source"/>
          <p:cNvSpPr txBox="1"/>
          <p:nvPr/>
        </p:nvSpPr>
        <p:spPr>
          <a:xfrm>
            <a:off x="640080" y="614476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lab/pricing.py MODELS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5566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구간 표지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84831"/>
            <a:ext cx="3108960" cy="64008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udit:title"/>
          <p:cNvSpPr txBox="1"/>
          <p:nvPr/>
        </p:nvSpPr>
        <p:spPr>
          <a:xfrm>
            <a:off x="640080" y="230428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6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01 · 언어 습관</a:t>
            </a:r>
          </a:p>
        </p:txBody>
      </p:sp>
      <p:sp>
        <p:nvSpPr>
          <p:cNvPr id="7" name="audit:hero"/>
          <p:cNvSpPr txBox="1"/>
          <p:nvPr/>
        </p:nvSpPr>
        <p:spPr>
          <a:xfrm>
            <a:off x="640080" y="33832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사고는 영어로, 답은 사용자 언어로</a:t>
            </a:r>
          </a:p>
        </p:txBody>
      </p:sp>
      <p:sp>
        <p:nvSpPr>
          <p:cNvPr id="8" name="audit:body-0"/>
          <p:cNvSpPr txBox="1"/>
          <p:nvPr/>
        </p:nvSpPr>
        <p:spPr>
          <a:xfrm>
            <a:off x="640080" y="422452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C7D2DE"/>
                </a:solidFill>
                <a:latin typeface="NanumGothic"/>
                <a:ea typeface="NanumGothic"/>
                <a:cs typeface="NanumGothic"/>
              </a:rPr>
              <a:t>토큰이 어디서 새는지 먼저 본다</a:t>
            </a:r>
          </a:p>
        </p:txBody>
      </p:sp>
      <p:sp>
        <p:nvSpPr>
          <p:cNvPr id="9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0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로컬 토크나이저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1 · 영어로 생각하고, 필요한 언어로 답한다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내용에 1.4723배 · 구형 2.3669배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FLORES-200 대응 번역 1,012쌍을 전수 인코딩해 토큰 합계를 비교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짧고 압축된 문장일수록 격차가 커진다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사용자에게는 한국어로 답한다 — 안 보이는 사고만 영어로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tools/parallel_tokenizer_bench.py · FLORES-200 devtest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인코딩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왜 한국어가 더 쪼개지는가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토큰/글자 0.204 vs 0.526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어휘 20만 개 중 한글은 약 1.2%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'에이전트'는 4토큰, ' agent'는 1토큰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512토큰이 영어 2,513자 · 한국어 973자 — 글자 수로 자르면 한국어 문서가 잘린다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experiments/exp01_tokenizer_ko_en.py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로컬 토크나이저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한국어는 같은 내용에 토큰을 더 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1.4723배 · 2.3669배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FLORES-200 대응 번역 1,012쌍을 전수 인코딩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글자 수로 자르면 한국어가 먼저 잘린다</a:t>
            </a:r>
          </a:p>
        </p:txBody>
      </p:sp>
      <p:pic>
        <p:nvPicPr>
          <p:cNvPr id="9" name="Picture 8" descr="token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토크나이저 실측 (토큰) · tokenizer.png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tools/parallel_tokenizer_bench.py · FLORES-200 devtest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구간 표지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84831"/>
            <a:ext cx="3108960" cy="64008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udit:title"/>
          <p:cNvSpPr txBox="1"/>
          <p:nvPr/>
        </p:nvSpPr>
        <p:spPr>
          <a:xfrm>
            <a:off x="640080" y="230428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6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02 · 출력과 추론</a:t>
            </a:r>
          </a:p>
        </p:txBody>
      </p:sp>
      <p:sp>
        <p:nvSpPr>
          <p:cNvPr id="7" name="audit:hero"/>
          <p:cNvSpPr txBox="1"/>
          <p:nvPr/>
        </p:nvSpPr>
        <p:spPr>
          <a:xfrm>
            <a:off x="640080" y="33832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비싼 쪽(출력)을 줄인다</a:t>
            </a:r>
          </a:p>
        </p:txBody>
      </p:sp>
      <p:sp>
        <p:nvSpPr>
          <p:cNvPr id="8" name="audit:body-0"/>
          <p:cNvSpPr txBox="1"/>
          <p:nvPr/>
        </p:nvSpPr>
        <p:spPr>
          <a:xfrm>
            <a:off x="640080" y="422452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C7D2DE"/>
                </a:solidFill>
                <a:latin typeface="NanumGothic"/>
                <a:ea typeface="NanumGothic"/>
                <a:cs typeface="NanumGothic"/>
              </a:rPr>
              <a:t>설명 최소화 · 추론 강도 배분 · 스펙 선주입</a:t>
            </a:r>
          </a:p>
        </p:txBody>
      </p:sp>
      <p:sp>
        <p:nvSpPr>
          <p:cNvPr id="9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0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인코딩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2 · 설명을 최소화한다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342 → 58 토큰 (83% 감소)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월 1,760건 기준 $9.03 → $1.53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'코드를 읽으면 아는 문장'만 지운다 — 코드는 그대로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샘플은 차이를 보이려고 극단적으로 잡았다. 자기 작업으로 다시 재라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experiments/exp05_verbosity_effort.py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시나리오 (사고 토큰 가정)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3 · 추론 강도를 작업에 맞춘다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월 $924 → $118 (70%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minimal $7.92 · medium $132 · max $924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설계 10%만 high, 정형·단순 작업은 low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reasoning/output 비율이 0.8을 넘으면 과다 신호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experiments/exp05_verbosity_effort.py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(턴 가정)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4 · 결정을 스펙으로 먼저 준다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재작업 5 → 2 사이클, 68.7% 절감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스펙 4,000토큰 작성 비용도 포함한 계산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얕은 스펙만으로도 36.9% 절감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설명이 아니라 결정을 적는다 — 페이지 · 스택 · 디자인 · 수용 기준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가정 시나리오 (월 1,760건)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월 청구서로 보면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-66% (월 1,760건)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업무량, 두 워크플로 — 입력 2,000/출력 12,000 vs 입력 6,000/출력 3,000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단가가 다른 모델에서도 방향은 같다</a:t>
            </a:r>
          </a:p>
        </p:txBody>
      </p:sp>
      <p:pic>
        <p:nvPicPr>
          <p:cNvPr id="9" name="Picture 8" descr="month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월 청구서 (USD) · monthly.png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experiments/exp02_output_to_input.py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5 · 턴 수가 비용을 지배한다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턴 2배 → 비용 3.1배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5턴 $0.26 · 20턴 $2.32 · 50턴 $12.09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안 쓰는 코드도 매 턴 다시 실려 과금된다 (YAGNI)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컨텍스트는 길이보다 '반복'이 비쌉니다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긴 세션일수록 가파르다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5턴 $0.26 → 50턴 $12.09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20턴에 컴팩션을 걸면 $0.93 (60% 절감)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안 쓰는 코드도 매 턴 다시 실려 과금된다</a:t>
            </a:r>
          </a:p>
        </p:txBody>
      </p:sp>
      <p:pic>
        <p:nvPicPr>
          <p:cNvPr id="9" name="Picture 8" descr="tu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세션 비용 (USD) · turns.png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구간 표지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84831"/>
            <a:ext cx="3108960" cy="64008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udit:title"/>
          <p:cNvSpPr txBox="1"/>
          <p:nvPr/>
        </p:nvSpPr>
        <p:spPr>
          <a:xfrm>
            <a:off x="640080" y="230428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6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03 · 캐시와 컨텍스트</a:t>
            </a:r>
          </a:p>
        </p:txBody>
      </p:sp>
      <p:sp>
        <p:nvSpPr>
          <p:cNvPr id="7" name="audit:hero"/>
          <p:cNvSpPr txBox="1"/>
          <p:nvPr/>
        </p:nvSpPr>
        <p:spPr>
          <a:xfrm>
            <a:off x="640080" y="33832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반복되는 것은 한 번만 낸다</a:t>
            </a:r>
          </a:p>
        </p:txBody>
      </p:sp>
      <p:sp>
        <p:nvSpPr>
          <p:cNvPr id="8" name="audit:body-0"/>
          <p:cNvSpPr txBox="1"/>
          <p:nvPr/>
        </p:nvSpPr>
        <p:spPr>
          <a:xfrm>
            <a:off x="640080" y="422452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C7D2DE"/>
                </a:solidFill>
                <a:latin typeface="NanumGothic"/>
                <a:ea typeface="NanumGothic"/>
                <a:cs typeface="NanumGothic"/>
              </a:rPr>
              <a:t>적중률을 올리고, 이력은 접고, 툴 출력은 줄인다</a:t>
            </a:r>
          </a:p>
        </p:txBody>
      </p:sp>
      <p:sp>
        <p:nvSpPr>
          <p:cNvPr id="9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0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(20턴)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세션 토큰의 4분의 3은 이력 재전송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고정 프리픽스 22.6% · 이력 75.1%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생성(출력)은 2.3%뿐이다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그래서 '덜 쓰기'보다 '다시 안 보내기'가 크다</a:t>
            </a:r>
          </a:p>
        </p:txBody>
      </p:sp>
      <p:pic>
        <p:nvPicPr>
          <p:cNvPr id="9" name="Picture 8" descr="usage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20턴 세션 토큰 구성 · usage_mix.png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 · 오늘 바로 켤 수 있는 레버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$8.55 → $3.22 (62.4%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쓰기 프리미엄은 두 번째 호출에서 회수된다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블록(시스템 · 툴 정의 · 규약)을 맨 앞으로 모은다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최소 길이를 확인한다 — Haiku 4.5는 4,096토큰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적중률 22%면 본전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캐시 없음 $8.550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적중률이 오를수록 단조 감소한다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미스가 섞이면 쓰기 프리미엄을 계속 문다</a:t>
            </a:r>
          </a:p>
        </p:txBody>
      </p:sp>
      <p:pic>
        <p:nvPicPr>
          <p:cNvPr id="9" name="Picture 8" descr="cache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적중률별 비용 (USD) · cache_hit.png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캐시를 깨는 한 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$10.05 (17.5% 더 지출)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맨 앞의 타임스탬프·요청 ID는 매번 미스로 만든다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변하는 값은 반드시 뒤로 보낸다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미스 상태의 캐싱은 안 쓰느니만 못하다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캐시는 조건이 맞을 때만 이득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$8.55 → $3.219 (-62%)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프리픽스를 매번 바꾸면 $10.05 (+17.5%)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블록을 앞으로 모아 적중률을 올린다</a:t>
            </a:r>
          </a:p>
        </p:txBody>
      </p:sp>
      <p:pic>
        <p:nvPicPr>
          <p:cNvPr id="9" name="Picture 8" descr="ca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100콜 비용 (USD) · cache.png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압축과 캐싱은 대체재가 아니다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$0.4014 → $0.2007 (94%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그냥 캐싱 $0.4014 vs 절반 요약 $1.8000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지울 수 있는 반복은 지우고, 지울 수 없는 반복은 고정해 캐시에 태운다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압축률이 높을수록 조합의 이득도 커진다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experiments/exp09_dry.py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긴 세션은 컴팩션으로 접는다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$2.32 → $0.93 (60%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10턴마다 접으면 $1.23 (47% 절감)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너무 자주 접으면 요약 호출이 이득을 먹는다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최적 주기는 세션 길이와 요약 비용으로 정해진다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전체 시스템 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출력과 서브에이전트는 전체 비용으로 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$5.6010 → $2.7360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읽기 누적 전송 1,680,000 토큰 (20턴)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컴팩션 $3.4425 · 서브에이전트 $2.736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자식 호출·요약 비용까지 포함해 비교한다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experiments/exp11_tool_output_bloat.py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시나리오 (10,000콜)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모델 라우팅 · 쉬운 요청에 비싼 모델을 쓰지 않는다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전부 강 $350 → 절반 $184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절반만 라우팅해도 47% 절감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공격적 라우팅은 $35.17 (90% 절감)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품질 측정 도구가 먼저다 — 임계값은 주기적으로 재보정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+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배치 API · 지연을 할인으로 바꾼다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50,000건 $675 → $337.50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입력·출력 모두 50% 할인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24시간 안에 끝나면 되는 잡만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야간 평가 · 대량 분류 · 리포트 생성 · 레포 전체 분석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습관, 같은 결과물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페르소나 19.0배 (기존 가정 20.8배)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A: 6턴 · 전체 재출력 · 과한 사고 / B: 2턴 · 짧은 패치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연 환산 $18,943 차이 (기존 가정 $20,832)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작업 1,760건/년을 가정한 비교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demo/compare_personas.py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정책 시나리오 재생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작은 모델이 지휘한다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사다리 2.81배 (1턴 27% · 2턴 43%)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실패가 반복되면 격차가 커진다 — 6회 2.80배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짧은 리워크에서도 이득 — 1턴 27% · 2턴 43%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respec이면 실행 전에 멈추므로 실행 비용만 계산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analysis/lean_vs_full.py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순차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다섯 레버를 겹치면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잔여 14.18%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시맨틱 캐시 → 라우팅 → 캐싱 → effort → 배치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각 레버가 자기 조건을 만족할 때의 순차 산술</a:t>
            </a:r>
          </a:p>
        </p:txBody>
      </p:sp>
      <p:pic>
        <p:nvPicPr>
          <p:cNvPr id="9" name="Picture 8" descr="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남은 비율 (%) · stack.png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API 로그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사고 예산을 적지 않으면 기본값이 정한다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미지정 대비 199.47배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미지정 $0.000028 vs 자동 $0.00558525 (호출당)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예산을 명시하는 순간 청구서가 예측 가능해진다</a:t>
            </a:r>
          </a:p>
        </p:txBody>
      </p:sp>
      <p:pic>
        <p:nvPicPr>
          <p:cNvPr id="9" name="Picture 8" descr="thi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호출당 비용 (USD) · thinking.png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results/thinking_sweep.jsonl (30 rows)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API 로그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안 보이는 사고 토큰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199.47배 (기존 환산 240.02배)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문제를 조건당 6회 실행한 저장 로그 30행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사고가 난 호출에서 사고 토큰 비중 99.625%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예산을 지정하지 않으면 사실상 '무제한' — 명시적으로 정한다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results/thinking_sweep.jsonl (30 rows)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로그 80행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언어별 비용은 지표마다 다르다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호출당 1.364배 · 0.729배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문자당(기존 환산 단가) 3.027배 · 1.363배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과제라도 언어에 따라 생성 길이가 달라진다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지표를 섞으면 결론이 뒤집힌다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tools/stats_test.py · storage logs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구간 표지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84831"/>
            <a:ext cx="3108960" cy="64008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udit:title"/>
          <p:cNvSpPr txBox="1"/>
          <p:nvPr/>
        </p:nvSpPr>
        <p:spPr>
          <a:xfrm>
            <a:off x="640080" y="230428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6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04 · 사례와 적용</a:t>
            </a:r>
          </a:p>
        </p:txBody>
      </p:sp>
      <p:sp>
        <p:nvSpPr>
          <p:cNvPr id="7" name="audit:hero"/>
          <p:cNvSpPr txBox="1"/>
          <p:nvPr/>
        </p:nvSpPr>
        <p:spPr>
          <a:xfrm>
            <a:off x="640080" y="33832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실제 한 페이지에서 확인한다</a:t>
            </a:r>
          </a:p>
        </p:txBody>
      </p:sp>
      <p:sp>
        <p:nvSpPr>
          <p:cNvPr id="8" name="audit:body-0"/>
          <p:cNvSpPr txBox="1"/>
          <p:nvPr/>
        </p:nvSpPr>
        <p:spPr>
          <a:xfrm>
            <a:off x="640080" y="422452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C7D2DE"/>
                </a:solidFill>
                <a:latin typeface="NanumGothic"/>
                <a:ea typeface="NanumGothic"/>
                <a:cs typeface="NanumGothic"/>
              </a:rPr>
              <a:t>같은 목표, 두 가지 과정 — 그리고 팀에 붙이는 순서</a:t>
            </a:r>
          </a:p>
        </p:txBody>
      </p:sp>
      <p:sp>
        <p:nvSpPr>
          <p:cNvPr id="9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0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 usage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사례 · 카페 랜딩 한 페이지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토큰 +1.8% · 비용 8.3% 감소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한 문장 지시 vs 4필드 스펙 — 같은 목표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GPT-5 8.3% · Sonnet 7.6% · 캐시 미적용 8.1%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입력은 늘고, 비싼 출력은 줄었다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추정치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무엇이 비용을 움직였나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합계 7,868 → 8,010 (+1.8%)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비캐시 입력 ↑ · 추론+출력 ↓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합계는 거의 그대로, 구조만 바뀌었다</a:t>
            </a:r>
          </a:p>
        </p:txBody>
      </p:sp>
      <p:pic>
        <p:nvPicPr>
          <p:cNvPr id="9" name="Picture 8" descr="case_tok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토큰 수 (추정) · case_tokens.png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demo/vibe_vs_spec/usage.json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실동작 검사 (Chromium)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사례 · 무엇을 확인했나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정적 16 + 브라우저 29항목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390 · 820 · 821 · 1280px 실제 렌더링 검사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카드 내용 · 앵커 이동 · 가로 스크롤 · JS 오류 0건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통과 여부는 실행 로그에 남는다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demo/vibe_vs_spec/verify_ac.py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단가별 비용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단가가 바뀌어도 방향은 같다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감소 8.3% · 7.6% · 8.1%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추정 usage를 세 단가로 환산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 단가가 높을수록 격차가 커진다</a:t>
            </a:r>
          </a:p>
        </p:txBody>
      </p:sp>
      <p:pic>
        <p:nvPicPr>
          <p:cNvPr id="9" name="Picture 8" descr="case_b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추정 비용 (USD) · case_bases.png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presentation/case_vibe_vs_spec/cost_comparison.md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적용 순서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적용 우선순위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1~3번은 오늘 오후에 켤 수 있다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낮은 난이도: 캐싱 · verbosity/effort · 배치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중간: 스펙 먼저 · 컴팩션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높은 난이도: 라우팅 · 시맨틱 캐시 · 압축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40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적용 절차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팀에 붙이는 순서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측정 → 적용 → 재측정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usage 로그로 자기 배수를 먼저 잰다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접두부를 앞으로, 변하는 값은 뒤로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적중률과 reasoning/output 비율을 대시보드로 본다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41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실무 체크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흔한 실수 다섯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미스 캐싱 · 과잉 추론 · 전체 재출력 · 오배치 라우팅 · 무제한 사고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캐시를 켜놓고 프리픽스를 매일 바꾼다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'전체 파일 다시 써줘'로 출력을 다시 산다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라우팅 임계값을 벤치마크 값 그대로 쓴다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docs/CORRECTIONS.md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42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운영 주의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캐싱과 개인정보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개인화 · 실시간 응답은 캐싱 금지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멀티턴은 캐시 키에 컨텍스트를 포함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시맨틱 캐시 임계값이 느슨하면 '비슷하지만 틀린 답'을 준다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삭제·TTL 정책을 프롬프트 설계와 함께 정한다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43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재현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직접 확인하는 방법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python run_all.py (유료 호출 0)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실험 11종이 오프라인으로 전부 재현된다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원자료 · 로그 · 검증 스크립트 · 발표 덱 생성기를 함께 공개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덱과 대본도 같은 원천에서 생성된다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tools/reproduce_audit.py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44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작게 시작해서 자기 usage로 확인한다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오늘 한 가지만 켜라 — 캐시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다음 주에 배수와 적중률을 다시 잰다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품질 게이트를 함께 둔다 — 절감만으로 대신하지 않는다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질문과 재현 결과는 저장소 이슈로 남긴다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시키지도 않은 시공비 청구서</dc:title>
  <dc:subject>Cost-saving talk, 2026-09-20</dc:subject>
  <dc:creator>token-cost-lab</dc:creator>
  <cp:keywords>speaker notes carry scope and limits;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