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목표를 두 방식으로 만들어 무엇이 달라졌는지 보는 사례다.</a:t>
            </a:r>
          </a:p>
          <a:p>
            <a:r>
              <a:t>결과물 2개·표본 1쌍이고 청구 usage는 세션 추정치다. 그래서 일반화하지 않는다.</a:t>
            </a:r>
          </a:p>
          <a:p>
            <a:r>
              <a:t>품질 동등성 실험이 아니라는 점을 시작에서 밝힌다.</a:t>
            </a:r>
          </a:p>
          <a:p>
            <a:r>
              <a:t>근거: demo/vibe_vs_spec/README.md</a:t>
            </a:r>
          </a:p>
          <a:p>
            <a:r>
              <a:t>증거 범위: CASE / 2026-09-20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청구 usage가 아니라 세션 추정치다. 절대값과 상대 차이 모두 추정 오차가 있다.</a:t>
            </a:r>
          </a:p>
          <a:p>
            <a:r>
              <a:t>캐시 적격성은 확인하지 않았다. 전부 신규 입력으로 환산한 값도 함께 공개한다.</a:t>
            </a:r>
          </a:p>
          <a:p>
            <a:r>
              <a:t>Spec 산출물은 Vibe 결과를 역산한 것이다. 백지 스펙 작성 비용과 재작업 감소는 통제하지 않았다.</a:t>
            </a:r>
          </a:p>
          <a:p>
            <a:r>
              <a:t>표본 1쌍의 사례이며 일반화하지 않는다.</a:t>
            </a:r>
          </a:p>
          <a:p>
            <a:r>
              <a:t>근거: demo/vibe_vs_spec/README.md</a:t>
            </a:r>
          </a:p>
          <a:p>
            <a:r>
              <a:t>증거 범위: 추정 usage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화면만 보면 구분이 어렵다. 그래서 토큰과 검사 결과로 내려간다.</a:t>
            </a:r>
          </a:p>
          <a:p>
            <a:r>
              <a:t>디자인 선호도는 검증 대상이 아니다.</a:t>
            </a:r>
          </a:p>
          <a:p>
            <a:r>
              <a:t>캡처는 로컬 Chromium 렌더링 결과이며 발표장 기기 렌더링과 다를 수 있다.</a:t>
            </a:r>
          </a:p>
          <a:p>
            <a:r>
              <a:t>보이는 화면이 비슷하다고 품질 동등성의 증거가 되지는 않는다.</a:t>
            </a:r>
          </a:p>
          <a:p>
            <a:r>
              <a:t>그림: 위: Vibe 산출물 첫 화면 (1280px) (demo/vibe_vs_spec/shots/vibe_top.png)</a:t>
            </a:r>
          </a:p>
          <a:p>
            <a:r>
              <a:t>그림: 아래: Spec 산출물 첫 화면 (1280px) (demo/vibe_vs_spec/shots/spec_top.png)</a:t>
            </a:r>
          </a:p>
          <a:p>
            <a:r>
              <a:t>근거: demo/vibe_vs_spec/shots/vibe_top.png · demo/vibe_vs_spec/shots/spec_top.png</a:t>
            </a:r>
          </a:p>
          <a:p>
            <a:r>
              <a:t>증거 범위: 산출물 스크린샷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구성 요소 수와 배치가 비슷한지 눈으로 확인하는 자료다.</a:t>
            </a:r>
          </a:p>
          <a:p>
            <a:r>
              <a:t>축소본이라 세부 텍스트는 원본 PNG를 봐야 한다.</a:t>
            </a:r>
          </a:p>
          <a:p>
            <a:r>
              <a:t>이 그림으로 품질 우열을 말하지 않는다. 스크롤 길이는 비용·품질 판정이 아니다.</a:t>
            </a:r>
          </a:p>
          <a:p>
            <a:r>
              <a:t>그림: 왼쪽 Vibe 전체 페이지 · 오른쪽 Spec 전체 페이지 (축소) (demo/vibe_vs_spec/shots/vibe_spec_full_2up.png)</a:t>
            </a:r>
          </a:p>
          <a:p>
            <a:r>
              <a:t>근거: demo/vibe_vs_spec/shots/vibe_full.png · demo/vibe_vs_spec/shots/spec_full.png</a:t>
            </a:r>
          </a:p>
          <a:p>
            <a:r>
              <a:t>증거 범위: 전체 페이지 축소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모바일 대응은 '미디어쿼리 문자열이 있는가'로 확인하면 안 된다는 사례다.</a:t>
            </a:r>
          </a:p>
          <a:p>
            <a:r>
              <a:t>실제 렌더링된 그리드 열 수를 브라우저에서 확인한다.</a:t>
            </a:r>
          </a:p>
          <a:p>
            <a:r>
              <a:t>브라우저가 없으면 검사는 UNVERIFIED로 끝난다.</a:t>
            </a:r>
          </a:p>
          <a:p>
            <a:r>
              <a:t>그림: Spec 산출물 · 390×844 캡처 (demo/vibe_vs_spec/shots/spec_mobile.png)</a:t>
            </a:r>
          </a:p>
          <a:p>
            <a:r>
              <a:t>근거: demo/vibe_vs_spec/shots/spec_mobile.png</a:t>
            </a:r>
          </a:p>
          <a:p>
            <a:r>
              <a:t>증거 범위: 반응형 스크린샷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벤더 usage 필드 이름과 동일하다고 가정하면 이중 계상할 수 있다.</a:t>
            </a:r>
          </a:p>
          <a:p>
            <a:r>
              <a:t>추론 토큰은 출력 요율로 과금된다는 가정을 쓴다.</a:t>
            </a:r>
          </a:p>
          <a:p>
            <a:r>
              <a:t>표의 값은 모두 추정치이며 실제 청구서가 아니다.</a:t>
            </a:r>
          </a:p>
          <a:p>
            <a:r>
              <a:t>비캐시 입력: 486 → 1,152  (증가 666)</a:t>
            </a:r>
          </a:p>
          <a:p>
            <a:r>
              <a:t>추론+보이는 출력: 7,070 → 6,390  (감소 680)</a:t>
            </a:r>
          </a:p>
          <a:p>
            <a:r>
              <a:t>캐시 입력(추정): 312 → 468  (증가 156)</a:t>
            </a:r>
          </a:p>
          <a:p>
            <a:r>
              <a:t>합계: 7,868 → 8,010  (증가 1.8%)</a:t>
            </a:r>
          </a:p>
          <a:p>
            <a:r>
              <a:t>근거: demo/vibe_vs_spec/usage.json</a:t>
            </a:r>
          </a:p>
          <a:p>
            <a:r>
              <a:t>증거 범위: 추정치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단가가 바뀌어도 결론의 방향이 유지되는지 확인하려는 계산이다.</a:t>
            </a:r>
          </a:p>
          <a:p>
            <a:r>
              <a:t>캐시를 전부 신규 입력으로 환산한 8.1%가 가장 보수적인 값이다.</a:t>
            </a:r>
          </a:p>
          <a:p>
            <a:r>
              <a:t>세 값 모두 추정 usage의 산술이고 캐시 적격성은 확인하지 않았다.</a:t>
            </a:r>
          </a:p>
          <a:p>
            <a:r>
              <a:t>GPT-5 · 캐시 $0.125/M: $0.0713465 → $0.0653985  (8.3% 감소)</a:t>
            </a:r>
          </a:p>
          <a:p>
            <a:r>
              <a:t>Claude Sonnet 4.6 · 캐시 0.1×: $0.1076016 → $0.0994464  (7.6% 감소)</a:t>
            </a:r>
          </a:p>
          <a:p>
            <a:r>
              <a:t>GPT-5 · 캐시 전부 미적용: $0.0716975 → $0.0659250  (8.1% 감소)</a:t>
            </a:r>
          </a:p>
          <a:p>
            <a:r>
              <a:t>근거: presentation/case_vibe_vs_spec/cost_comparison.md</a:t>
            </a:r>
          </a:p>
          <a:p>
            <a:r>
              <a:t>증거 범위: 단가별 비용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가격 체계에서 항상 이긴다는 뜻이 아니라, 이 토큰 이동에서의 조건이다.</a:t>
            </a:r>
          </a:p>
          <a:p>
            <a:r>
              <a:t>DeepSeek처럼 캐시 할인이 더 깊은 모델은 손익분기가 달라진다.</a:t>
            </a:r>
          </a:p>
          <a:p>
            <a:r>
              <a:t>실제 청구서 대조는 하지 않았다.</a:t>
            </a:r>
          </a:p>
          <a:p>
            <a:r>
              <a:t>손익분기 조건: r &gt; (666 + 156h) / 680</a:t>
            </a:r>
          </a:p>
          <a:p>
            <a:r>
              <a:t>h = 0.1이면: r = 1.0024</a:t>
            </a:r>
          </a:p>
          <a:p>
            <a:r>
              <a:t>r → ∞ 수렴: 약 9.62% 감소에 수렴</a:t>
            </a:r>
          </a:p>
          <a:p>
            <a:r>
              <a:t>실제 청구서: 미확인 (usage 추정치 산술)</a:t>
            </a:r>
          </a:p>
          <a:p>
            <a:r>
              <a:t>근거: demo/vibe_vs_spec/sensitivity.py</a:t>
            </a:r>
          </a:p>
          <a:p>
            <a:r>
              <a:t>증거 범위: 단가 민감도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검사 항목은 산출물의 요구사항(수용 기준)에 맞춰 정의했다.</a:t>
            </a:r>
          </a:p>
          <a:p>
            <a:r>
              <a:t>검사를 통과했다는 것이 두 생성 과정의 품질 동등성을 뜻하지는 않는다.</a:t>
            </a:r>
          </a:p>
          <a:p>
            <a:r>
              <a:t>검사 항목 수는 실행 로그에서 확인한다.</a:t>
            </a:r>
          </a:p>
          <a:p>
            <a:r>
              <a:t>근거: demo/vibe_vs_spec/verify_ac.py</a:t>
            </a:r>
          </a:p>
          <a:p>
            <a:r>
              <a:t>증거 범위: 실동작 검사 (Chromium)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칸은 이 사례에서 실제로 쓴 스펙의 구성이다. 각 칸은 결정 하나를 요구한다.</a:t>
            </a:r>
          </a:p>
          <a:p>
            <a:r>
              <a:t>수용 기준은 나중에 검사 스크립트로 그대로 옮길 수 있어야 한다. '예쁘게'는 기준이 아니다.</a:t>
            </a:r>
          </a:p>
          <a:p>
            <a:r>
              <a:t>이 템플릿의 효과는 아직 사전 등록된 다수 과제 A/B로 검증하지 않았다. 프로토콜은 저장소에 공개해 두었다.</a:t>
            </a:r>
          </a:p>
          <a:p>
            <a:r>
              <a:t>이 사례의 목적은 '스펙을 쓰면 8% 싸다'가 아니라 '결정을 먼저 적으면 되돌림이 줄어든다'를 보이는 것이다.</a:t>
            </a:r>
          </a:p>
          <a:p>
            <a:r>
              <a:t>근거: demo/vibe_vs_spec/EXPERIMENT_A_PROTOCOL.md</a:t>
            </a:r>
          </a:p>
          <a:p>
            <a:r>
              <a:t>증거 범위: 스펙 템플릿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필드는 이 사례에서 실제로 쓴 스펙의 구성이다.</a:t>
            </a:r>
          </a:p>
          <a:p>
            <a:r>
              <a:t>스펙을 길게 쓰라는 뜻이 아니다 — 결정만 담으면 4,000토큰 이하로 충분하다.</a:t>
            </a:r>
          </a:p>
          <a:p>
            <a:r>
              <a:t>재작업 횟수를 기록해 두면 다음 사례에서 인과를 말할 수 있다.</a:t>
            </a:r>
          </a:p>
          <a:p>
            <a:r>
              <a:t>근거: demo/vibe_vs_spec/README.md</a:t>
            </a:r>
          </a:p>
          <a:p>
            <a:r>
              <a:t>증거 범위: 적용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터미널에서 같은 검사를 다시 돌릴 수 있다.</a:t>
            </a:r>
          </a:p>
          <a:p>
            <a:r>
              <a:t>비교 이미지를 다시 만들려면 슬라이드에 적힌 생성 스크립트를 쓴다.</a:t>
            </a:r>
          </a:p>
          <a:p>
            <a:r>
              <a:t>숫자를 손으로 고치면 검증이 실패한다.</a:t>
            </a:r>
          </a:p>
          <a:p>
            <a:r>
              <a:t>근거: demo/vibe_vs_spec/</a:t>
            </a:r>
          </a:p>
          <a:p>
            <a:r>
              <a:t>증거 범위: 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사례에서 확실한 것은 토큰 구조가 '싼 입력↑, 비싼 출력↓'로 이동했다는 점이다.</a:t>
            </a:r>
          </a:p>
          <a:p>
            <a:r>
              <a:t>그 이동이 곧 품질 보장은 아니다. 함께 측정해야 한다.</a:t>
            </a:r>
          </a:p>
          <a:p>
            <a:r>
              <a:t>다음 단계는 사전 등록된 A/B다.</a:t>
            </a:r>
          </a:p>
          <a:p>
            <a:r>
              <a:t>근거: demo/vibe_vs_spec/README.md</a:t>
            </a:r>
          </a:p>
          <a:p>
            <a:r>
              <a:t>증거 범위: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CASE / 2026-09-20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목표, 두 가지 과정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카페 랜딩 한 페이지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 문장 지시(Vibe) vs 4필드 스펙(Spec), 같은 목표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화면은 거의 같고, 청구서와 검사 결과가 다르다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무엇이 비용을 움직였는지 하나씩 본다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 usage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사례 · 카페 랜딩 한 페이지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토큰 +1.8% · 비용 8.3% 감소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 문장 지시 vs 4필드 스펙 — 같은 목표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GPT-5 8.3% · Sonnet 7.6% · 캐시 미적용 8.1%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입력은 늘고, 비싼 출력은 줄었다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산출물 스크린샷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산출물의 첫 화면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목표, 다른 생성 과정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장 모두 실제 생성 HTML을 Chromium 1280px에서 캡처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다른 점은 토큰 구조와 검사 결과에 있다</a:t>
            </a:r>
          </a:p>
        </p:txBody>
      </p:sp>
      <p:pic>
        <p:nvPicPr>
          <p:cNvPr id="9" name="Picture 8" descr="vibe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0222" y="2103120"/>
            <a:ext cx="2567635" cy="1604772"/>
          </a:xfrm>
          <a:prstGeom prst="rect">
            <a:avLst/>
          </a:prstGeom>
        </p:spPr>
      </p:pic>
      <p:sp>
        <p:nvSpPr>
          <p:cNvPr id="10" name="audit:image-caption-0"/>
          <p:cNvSpPr txBox="1"/>
          <p:nvPr/>
        </p:nvSpPr>
        <p:spPr>
          <a:xfrm>
            <a:off x="7360920" y="3726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위: Vibe 산출물 첫 화면 (1280px)</a:t>
            </a:r>
          </a:p>
        </p:txBody>
      </p:sp>
      <p:pic>
        <p:nvPicPr>
          <p:cNvPr id="11" name="Picture 10" descr="spec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222" y="4000500"/>
            <a:ext cx="2567635" cy="1604772"/>
          </a:xfrm>
          <a:prstGeom prst="rect">
            <a:avLst/>
          </a:prstGeom>
        </p:spPr>
      </p:pic>
      <p:sp>
        <p:nvSpPr>
          <p:cNvPr id="12" name="audit:image-caption-1"/>
          <p:cNvSpPr txBox="1"/>
          <p:nvPr/>
        </p:nvSpPr>
        <p:spPr>
          <a:xfrm>
            <a:off x="7360920" y="56235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아래: Spec 산출물 첫 화면 (1280px)</a:t>
            </a:r>
          </a:p>
        </p:txBody>
      </p:sp>
      <p:sp>
        <p:nvSpPr>
          <p:cNvPr id="13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demo/vibe_vs_spec/shots/vibe_top.png · demo/vibe_vs_spec/shots/spec_top.png</a:t>
            </a:r>
          </a:p>
        </p:txBody>
      </p:sp>
      <p:sp>
        <p:nvSpPr>
          <p:cNvPr id="14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전체 페이지 축소 비교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전체 페이지 길이 비교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세로로 긴 한 페이지, 두 산출물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원본 캡처 두 장을 같은 높이로 축소해 나란히 붙였다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구성 요소 수와 배치가 비슷한지 눈으로 확인한다</a:t>
            </a:r>
          </a:p>
        </p:txBody>
      </p:sp>
      <p:pic>
        <p:nvPicPr>
          <p:cNvPr id="9" name="Picture 8" descr="vibe_spec_full_2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0089" y="2103120"/>
            <a:ext cx="2687901" cy="3502152"/>
          </a:xfrm>
          <a:prstGeom prst="rect">
            <a:avLst/>
          </a:prstGeom>
        </p:spPr>
      </p:pic>
      <p:sp>
        <p:nvSpPr>
          <p:cNvPr id="10" name="audit:image-caption-0"/>
          <p:cNvSpPr txBox="1"/>
          <p:nvPr/>
        </p:nvSpPr>
        <p:spPr>
          <a:xfrm>
            <a:off x="7360920" y="56235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왼쪽 Vibe 전체 페이지 · 오른쪽 Spec 전체 페이지 (축소)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demo/vibe_vs_spec/shots/vibe_full.png · demo/vibe_vs_spec/shots/spec_full.png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반응형 스크린샷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모바일 390px에서도 같은 1열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문자열이 아니라 실제 렌더링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문자열 검사만으로는 2열로 바뀌어도 통과한다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아래 그림은 현재 Spec 산출물을 390px에서 캡처한 것</a:t>
            </a:r>
          </a:p>
        </p:txBody>
      </p:sp>
      <p:pic>
        <p:nvPicPr>
          <p:cNvPr id="9" name="Picture 8" descr="spec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4893" y="2103120"/>
            <a:ext cx="1618292" cy="3502152"/>
          </a:xfrm>
          <a:prstGeom prst="rect">
            <a:avLst/>
          </a:prstGeom>
        </p:spPr>
      </p:pic>
      <p:sp>
        <p:nvSpPr>
          <p:cNvPr id="10" name="audit:image-caption-0"/>
          <p:cNvSpPr txBox="1"/>
          <p:nvPr/>
        </p:nvSpPr>
        <p:spPr>
          <a:xfrm>
            <a:off x="7360920" y="56235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Spec 산출물 · 390×844 캡처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demo/vibe_vs_spec/shots/spec_mobile.png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추정치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입력이 늘고 비싼 출력이 줄었다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증가 666 · 감소 680 · 증가 156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 케이스에서 input과 cache는 서로 겹치지 않는 버킷으로 정의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합계는 7,868 → 8,010 (증가 1.8%)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33671"/>
          <a:ext cx="10652760" cy="1682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67208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비캐시 입력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486 → 1,152  (증가 666)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추론+보이는 출력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7,070 → 6,390  (감소 680)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캐시 입력(추정)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312 → 468  (증가 156)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합계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7,868 → 8,010  (증가 1.8%)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단가별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세 단가로 같은 추정치를 환산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8.3% / 7.6% / 8.1% 비용 감소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추정 토큰을 세 단가로 환산한 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모델을 바꿔도 방향은 같다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33671"/>
          <a:ext cx="10652760" cy="12618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67208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GPT-5 · 캐시 $0.125/M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$0.0713465 → $0.0653985  (8.3% 감소)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Claude Sonnet 4.6 · 캐시 0.1×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$0.1076016 → $0.0994464  (7.6% 감소)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GPT-5 · 캐시 전부 미적용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$0.0716975 → $0.0659250  (8.1% 감소)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presentation/case_vibe_vs_spec/cost_comparison.md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 민감도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단가비가 손익을 결정한다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r &gt; (666 + 156h) / 680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 = 출력/입력 단가, h = 캐시 읽기/입력 단가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단가가 조금만 높아도 스펙 쪽이 유리해진다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33671"/>
          <a:ext cx="10652760" cy="1682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67208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손익분기 조건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 &gt; (666 + 156h) / 680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h = 0.1이면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 = 1.0024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 → ∞ 수렴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약 9.62% 감소에 수렴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실제 청구서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미확인 (usage 추정치 산술)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demo/vibe_vs_spec/sensitivity.py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실동작 검사 (Chromium)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무엇을 확인했나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16 + 브라우저 29항목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390 · 820 · 821 · 1280px 렌더링과 앵커 이동 검사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실패하는 변조를 넣어 검사가 실제로 잡는지도 확인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demo/vibe_vs_spec/verify_ac.py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스펙 템플릿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 네 칸에 무엇을 적는가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한 줄이면 충분한 결정 네 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페이지 — 섹션과 순서를 고정한다 (이번엔 히어로·메뉴·지도·리뷰·CTA)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스택 — 생성 방식과 파일 구성을 정한다 (단일 HTML + CSS, JS 없음)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디자인 — 톤·색·타이포 기준을 한 줄로 (따뜻한 크림 톤, 사진 대신 일러스트)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수용 기준 — 검사 가능한 문장으로 (390px에서 1열, 앵커 이동, JS 오류 0)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demo/vibe_vs_spec/EXPERIMENT_A_PROTOCOL.md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적용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프로젝트에서 할 일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결정 네 개를 먼저 적는다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페이지 · 스택 · 디자인 · 수용 기준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설명 대신 결정을 적고, 수용 기준을 코드로 옮긴다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완료 후 재작업 횟수와 총비용을 기록한다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재현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python demo/vibe_vs_spec/verify_ac.py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이미지 · usage 추정치 · 검사 스크립트가 저장소에 있다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브라우저가 없으면 UNVERIFIED로 종료한다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덱과 대본도 같은 원천에서 생성된다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스펙은 짧게, 결정만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서론 대신 페이지 · 스택 · 디자인 · 수용 기준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되돌림이 줄면 턴 수가 줄고 비용도 줄어든다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사례는 다수 과제 A/B로 검증한다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같은 목표, 두 가지 과정</dc:title>
  <dc:subject>Cost-saving talk, 2026-09-20</dc:subject>
  <dc:creator>token-cost-lab</dc:creator>
  <cp:keywords>speaker notes carry scope and limits;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