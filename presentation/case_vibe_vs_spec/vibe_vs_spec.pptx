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CASE / 정정판</a:t>
            </a:r>
          </a:p>
          <a:p>
            <a:r>
              <a:t>카페 랜딩 · 생성 산출물 2개 · 표본 1쌍</a:t>
            </a:r>
          </a:p>
          <a:p>
            <a:r>
              <a:t>실제 청구 usage나 무작위 배정된 SDD 실험이 아니다.</a:t>
            </a:r>
          </a:p>
          <a:p>
            <a:r>
              <a:t>근거: demo/vibe_vs_spec/README.md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추정 usage의 비용 재계산</a:t>
            </a:r>
          </a:p>
          <a:p>
            <a:r>
              <a:t>고정 usage 추정치 + GPT-5 단가: $0.07135 → $0.06540</a:t>
            </a:r>
          </a:p>
          <a:p>
            <a:r>
              <a:t>토큰 합계 7,868 → 8,010 (+1.8%). 실제 청구 usage가 아니라 세션 추정치다.</a:t>
            </a:r>
          </a:p>
          <a:p>
            <a:r>
              <a:t>캐시 적격성 미확인. 모든 추정 입력을 신규 입력으로 환산하면 -8.1%.</a:t>
            </a:r>
          </a:p>
          <a:p>
            <a:r>
              <a:t>Spec은 Vibe 결과를 역산. 백지 스펙 비용·재작업 감소·품질 동등성을 검증한 것은 아니다.</a:t>
            </a:r>
          </a:p>
          <a:p>
            <a:r>
              <a:t>근거: demo/vibe_vs_spec/usage.json · verify_ac.py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산출물 스크린샷</a:t>
            </a:r>
          </a:p>
          <a:p>
            <a:r>
              <a:t>두 장 모두 실제 생성 HTML을 Chromium 1280px에서 캡처한 화면이다.</a:t>
            </a:r>
          </a:p>
          <a:p>
            <a:r>
              <a:t>보이는 화면이 비슷하다는 것이 품질 동등성의 증거는 아니다.</a:t>
            </a:r>
          </a:p>
          <a:p>
            <a:r>
              <a:t>그림: 위: Vibe 산출물 첫 화면 (1280px) (demo/vibe_vs_spec/shots/vibe_top.png)</a:t>
            </a:r>
          </a:p>
          <a:p>
            <a:r>
              <a:t>그림: 아래: Spec 산출물 첫 화면 (1280px) (demo/vibe_vs_spec/shots/spec_top.png)</a:t>
            </a:r>
          </a:p>
          <a:p>
            <a:r>
              <a:t>근거: demo/vibe_vs_spec/shots/vibe_top.png · demo/vibe_vs_spec/shots/spec_top.png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반응형 스크린샷</a:t>
            </a:r>
          </a:p>
          <a:p>
            <a:r>
              <a:t>문자열 검사만으로는 2열로 바뀌어도 통과한다.</a:t>
            </a:r>
          </a:p>
          <a:p>
            <a:r>
              <a:t>아래 그림은 현재 Spec 산출물을 390px에서 캡처한 것이다.</a:t>
            </a:r>
          </a:p>
          <a:p>
            <a:r>
              <a:t>그림: Spec 산출물 · 390×844 캡처 (demo/vibe_vs_spec/shots/spec_mobile.png)</a:t>
            </a:r>
          </a:p>
          <a:p>
            <a:r>
              <a:t>근거: demo/vibe_vs_spec/shots/spec_mobile.png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전체 페이지 축소 비교</a:t>
            </a:r>
          </a:p>
          <a:p>
            <a:r>
              <a:t>원본 캡처 1,280×3,400 두 장을 같은 높이로 축소해 나란히 붙였다.</a:t>
            </a:r>
          </a:p>
          <a:p>
            <a:r>
              <a:t>스크롤 길이가 비슷하다는 사실은 비용·품질 동등성 판정이 아니다.</a:t>
            </a:r>
          </a:p>
          <a:p>
            <a:r>
              <a:t>그림: 왼쪽 Vibe 전체 페이지 · 오른쪽 Spec 전체 페이지 (축소) (demo/vibe_vs_spec/shots/vibe_spec_full_2up.png)</a:t>
            </a:r>
          </a:p>
          <a:p>
            <a:r>
              <a:t>근거: demo/vibe_vs_spec/shots/vibe_full.png · demo/vibe_vs_spec/shots/spec_full.png · demo/vibe_vs_spec/make_fullpage_2up.py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추정치 재계산</a:t>
            </a:r>
          </a:p>
          <a:p>
            <a:r>
              <a:t>이 케이스에서 input과 cache는 서로 겹치지 않는 버킷으로 정의했다.</a:t>
            </a:r>
          </a:p>
          <a:p>
            <a:r>
              <a:t>벤더 usage 필드 이름과 동일하다고 가정하면 이중 계상할 수 있다.</a:t>
            </a:r>
          </a:p>
          <a:p>
            <a:r>
              <a:t>비캐시 입력: 486 → 1,152  (증가 666)</a:t>
            </a:r>
          </a:p>
          <a:p>
            <a:r>
              <a:t>추론+보이는 출력: 7,070 → 6,390  (감소 680)</a:t>
            </a:r>
          </a:p>
          <a:p>
            <a:r>
              <a:t>캐시 입력(추정): 312 → 468  (증가 156)</a:t>
            </a:r>
          </a:p>
          <a:p>
            <a:r>
              <a:t>합계: 7,868 → 8,010  (증가 1.8%)</a:t>
            </a:r>
          </a:p>
          <a:p>
            <a:r>
              <a:t>근거: demo/vibe_vs_spec/usage.json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단가별 비용 재계산</a:t>
            </a:r>
          </a:p>
          <a:p>
            <a:r>
              <a:t>토큰은 그대로 두고 단가와 캐시 가정만 바꾼 산술이다.</a:t>
            </a:r>
          </a:p>
          <a:p>
            <a:r>
              <a:t>다른 모델을 실행한 실측이 아니며, 캐시 적격성은 미확인이다.</a:t>
            </a:r>
          </a:p>
          <a:p>
            <a:r>
              <a:t>GPT-5 · 캐시 $0.125/M: $0.0713465 → $0.0653985  (8.3% 감소)</a:t>
            </a:r>
          </a:p>
          <a:p>
            <a:r>
              <a:t>Claude Sonnet 4.6 · 캐시 0.1×: $0.1076016 → $0.0994464  (7.6% 감소)</a:t>
            </a:r>
          </a:p>
          <a:p>
            <a:r>
              <a:t>GPT-5 · 캐시 전부 미적용: $0.0716975 → $0.0659250  (8.1% 감소)</a:t>
            </a:r>
          </a:p>
          <a:p>
            <a:r>
              <a:t>근거: demo/vibe_vs_spec/cost_comparison.md · verify_case.py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단가 민감도</a:t>
            </a:r>
          </a:p>
          <a:p>
            <a:r>
              <a:t>r = 출력/입력 단가, h = 캐시 읽기/입력 단가.</a:t>
            </a:r>
          </a:p>
          <a:p>
            <a:r>
              <a:t>모든 가격 체계에서의 보편 법칙이 아니라 고정 토큰 이동의 감도 분석이다.</a:t>
            </a:r>
          </a:p>
          <a:p>
            <a:r>
              <a:t>손익분기 조건: r &gt; (666 + 156h) / 680</a:t>
            </a:r>
          </a:p>
          <a:p>
            <a:r>
              <a:t>h = 0.1이면: r = 1.0024</a:t>
            </a:r>
          </a:p>
          <a:p>
            <a:r>
              <a:t>r → ∞ 수렴: 약 9.62% 감소에 수렴</a:t>
            </a:r>
          </a:p>
          <a:p>
            <a:r>
              <a:t>실제 청구서: 미확인 (usage 추정치 산술)</a:t>
            </a:r>
          </a:p>
          <a:p>
            <a:r>
              <a:t>근거: demo/vibe_vs_spec/sensitivity.py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현재 산출물의 실행 검사</a:t>
            </a:r>
          </a:p>
          <a:p>
            <a:r>
              <a:t>390/820/821/1280px 그리드·메뉴 표시·가로 스크롤 검사</a:t>
            </a:r>
          </a:p>
          <a:p>
            <a:r>
              <a:t>각 카드의 내용과 세 앵커의 실제 스크롤 이동 검사</a:t>
            </a:r>
          </a:p>
          <a:p>
            <a:r>
              <a:t>디자인 선호도·모든 사용자 의도·두 생성 과정의 품질 동등성은 검증하지 않는다.</a:t>
            </a:r>
          </a:p>
          <a:p>
            <a:r>
              <a:t>근거: demo/vibe_vs_spec/verify_ac.py · tools/browser_ac.py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변조 회귀</a:t>
            </a:r>
          </a:p>
          <a:p>
            <a:r>
              <a:t>CSS에 미디어쿼리 문자열이 있다는 것만으로 1열 전환이 보장되지 않는다.</a:t>
            </a:r>
          </a:p>
          <a:p>
            <a:r>
              <a:t>실제 렌더링된 gridTemplateColumns를 확인한다.</a:t>
            </a:r>
          </a:p>
          <a:p>
            <a:r>
              <a:t>브라우저가 없으면 PASS가 아니라 UNVERIFIED(exit 2).</a:t>
            </a:r>
          </a:p>
          <a:p>
            <a:r>
              <a:t>근거: experiments/exp04_agent_loop_sdd.py (--warm-cache = legacy)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외부 보고의 범위 제한</a:t>
            </a:r>
          </a:p>
          <a:p>
            <a:r>
              <a:t>Spec-Kit +97~109%: OpenSpec 대비 두 사례의 외부 블로그 보고. 둘 다 SDD 접근.</a:t>
            </a:r>
          </a:p>
          <a:p>
            <a:r>
              <a:t>ETH AGENTS.md 연구: 저장소 컨텍스트 파일 조건. 모든 짧은 스펙이 손해라는 실험 아님.</a:t>
            </a:r>
          </a:p>
          <a:p>
            <a:r>
              <a:t>짧고 필요한 요구사항만 쓰라는 실무 원칙은 유지하되 효과를 직접 측정한다.</a:t>
            </a:r>
          </a:p>
          <a:p>
            <a:r>
              <a:t>근거: SOURCES.md §4 · arxiv.org/html/2602.11988v1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후속 계획 / 미실행</a:t>
            </a:r>
          </a:p>
          <a:p>
            <a:r>
              <a:t>백지 스펙 작성 비용부터 포함하고 다수 과제를 무작위 배정한다.</a:t>
            </a:r>
          </a:p>
          <a:p>
            <a:r>
              <a:t>같은 AC·모델·출력 예산·가격·캐시 조건으로 성공률과 총비용을 기록한다.</a:t>
            </a:r>
          </a:p>
          <a:p>
            <a:r>
              <a:t>진행하지 않은 실험의 절감률은 결과로 채우지 않는다.</a:t>
            </a:r>
          </a:p>
          <a:p>
            <a:r>
              <a:t>근거: demo/vibe_vs_spec/EXPERIMENT_A_PROTOCOL.md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01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CASE / 정정판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Vibe vs Spec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같은 목표 페이지, 추정 usage 비교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카페 랜딩 · 생성 산출물 2개 · 표본 1쌍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실제 청구 usage나 무작위 배정된 SDD 실험이 아니다.</a:t>
            </a:r>
          </a:p>
        </p:txBody>
      </p:sp>
      <p:sp>
        <p:nvSpPr>
          <p:cNvPr id="9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demo/vibe_vs_spec/README.md</a:t>
            </a:r>
          </a:p>
        </p:txBody>
      </p:sp>
      <p:sp>
        <p:nvSpPr>
          <p:cNvPr id="10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02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추정 usage의 비용 재계산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카페 케이스: 절감 관측의 증거 수준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usage 추정치 환산 -8.3%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고정 usage 추정치 + GPT-5 단가: $0.07135 → $0.06540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토큰 합계 7,868 → 8,010 (+1.8%). 실제 청구 usage가 아니라 세션 추정치다.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캐시 적격성 미확인. 모든 추정 입력을 신규 입력으로 환산하면 -8.1%.</a:t>
            </a:r>
          </a:p>
        </p:txBody>
      </p:sp>
      <p:sp>
        <p:nvSpPr>
          <p:cNvPr id="10" name="audit:body-3"/>
          <p:cNvSpPr txBox="1"/>
          <p:nvPr/>
        </p:nvSpPr>
        <p:spPr>
          <a:xfrm>
            <a:off x="777240" y="478231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Spec은 Vibe 결과를 역산. 백지 스펙 비용·재작업 감소·품질 동등성을 검증한 것은 아니다.</a:t>
            </a:r>
          </a:p>
        </p:txBody>
      </p:sp>
      <p:sp>
        <p:nvSpPr>
          <p:cNvPr id="11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demo/vibe_vs_spec/usage.json · verify_ac.py</a:t>
            </a:r>
          </a:p>
        </p:txBody>
      </p:sp>
      <p:sp>
        <p:nvSpPr>
          <p:cNvPr id="12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03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산출물 스크린샷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두 산출물의 첫 화면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같은 목표, 다른 생성 과정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640080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두 장 모두 실제 생성 HTML을 Chromium 1280px에서 캡처한 화면이다.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640080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보이는 화면이 비슷하다는 것이 품질 동등성의 증거는 아니다.</a:t>
            </a:r>
          </a:p>
        </p:txBody>
      </p:sp>
      <p:pic>
        <p:nvPicPr>
          <p:cNvPr id="9" name="Picture 8" descr="vibe_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80222" y="2103120"/>
            <a:ext cx="2567635" cy="1604772"/>
          </a:xfrm>
          <a:prstGeom prst="rect">
            <a:avLst/>
          </a:prstGeom>
        </p:spPr>
      </p:pic>
      <p:sp>
        <p:nvSpPr>
          <p:cNvPr id="10" name="audit:image-caption-0"/>
          <p:cNvSpPr txBox="1"/>
          <p:nvPr/>
        </p:nvSpPr>
        <p:spPr>
          <a:xfrm>
            <a:off x="7360920" y="3726180"/>
            <a:ext cx="4206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위: Vibe 산출물 첫 화면 (1280px)</a:t>
            </a:r>
          </a:p>
        </p:txBody>
      </p:sp>
      <p:pic>
        <p:nvPicPr>
          <p:cNvPr id="11" name="Picture 10" descr="spec_t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80222" y="4000500"/>
            <a:ext cx="2567635" cy="1604772"/>
          </a:xfrm>
          <a:prstGeom prst="rect">
            <a:avLst/>
          </a:prstGeom>
        </p:spPr>
      </p:pic>
      <p:sp>
        <p:nvSpPr>
          <p:cNvPr id="12" name="audit:image-caption-1"/>
          <p:cNvSpPr txBox="1"/>
          <p:nvPr/>
        </p:nvSpPr>
        <p:spPr>
          <a:xfrm>
            <a:off x="7360920" y="5623560"/>
            <a:ext cx="4206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아래: Spec 산출물 첫 화면 (1280px)</a:t>
            </a:r>
          </a:p>
        </p:txBody>
      </p:sp>
      <p:sp>
        <p:nvSpPr>
          <p:cNvPr id="13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demo/vibe_vs_spec/shots/vibe_top.png · demo/vibe_vs_spec/shots/spec_top.png</a:t>
            </a:r>
          </a:p>
        </p:txBody>
      </p:sp>
      <p:sp>
        <p:nvSpPr>
          <p:cNvPr id="14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04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반응형 스크린샷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모바일 390px에서도 같은 1열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정적 문자열이 아니라 실제 렌더링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640080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문자열 검사만으로는 2열로 바뀌어도 통과한다.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640080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아래 그림은 현재 Spec 산출물을 390px에서 캡처한 것이다.</a:t>
            </a:r>
          </a:p>
        </p:txBody>
      </p:sp>
      <p:pic>
        <p:nvPicPr>
          <p:cNvPr id="9" name="Picture 8" descr="spec_mobi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54893" y="2103120"/>
            <a:ext cx="1618292" cy="3502152"/>
          </a:xfrm>
          <a:prstGeom prst="rect">
            <a:avLst/>
          </a:prstGeom>
        </p:spPr>
      </p:pic>
      <p:sp>
        <p:nvSpPr>
          <p:cNvPr id="10" name="audit:image-caption-0"/>
          <p:cNvSpPr txBox="1"/>
          <p:nvPr/>
        </p:nvSpPr>
        <p:spPr>
          <a:xfrm>
            <a:off x="7360920" y="5623560"/>
            <a:ext cx="4206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Spec 산출물 · 390×844 캡처</a:t>
            </a:r>
          </a:p>
        </p:txBody>
      </p:sp>
      <p:sp>
        <p:nvSpPr>
          <p:cNvPr id="11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demo/vibe_vs_spec/shots/spec_mobile.png</a:t>
            </a:r>
          </a:p>
        </p:txBody>
      </p:sp>
      <p:sp>
        <p:nvSpPr>
          <p:cNvPr id="12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05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전체 페이지 축소 비교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전체 페이지 길이 비교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세로로 긴 한 페이지, 두 산출물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640080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원본 캡처 1,280×3,400 두 장을 같은 높이로 축소해 나란히 붙였다.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640080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스크롤 길이가 비슷하다는 사실은 비용·품질 동등성 판정이 아니다.</a:t>
            </a:r>
          </a:p>
        </p:txBody>
      </p:sp>
      <p:pic>
        <p:nvPicPr>
          <p:cNvPr id="9" name="Picture 8" descr="vibe_spec_full_2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0089" y="2103120"/>
            <a:ext cx="2687901" cy="3502152"/>
          </a:xfrm>
          <a:prstGeom prst="rect">
            <a:avLst/>
          </a:prstGeom>
        </p:spPr>
      </p:pic>
      <p:sp>
        <p:nvSpPr>
          <p:cNvPr id="10" name="audit:image-caption-0"/>
          <p:cNvSpPr txBox="1"/>
          <p:nvPr/>
        </p:nvSpPr>
        <p:spPr>
          <a:xfrm>
            <a:off x="7360920" y="5623560"/>
            <a:ext cx="4206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왼쪽 Vibe 전체 페이지 · 오른쪽 Spec 전체 페이지 (축소)</a:t>
            </a:r>
          </a:p>
        </p:txBody>
      </p:sp>
      <p:sp>
        <p:nvSpPr>
          <p:cNvPr id="11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demo/vibe_vs_spec/shots/vibe_full.png · demo/vibe_vs_spec/shots/spec_full.png · demo/vibe_vs_spec/make_fullpage_2up.py</a:t>
            </a:r>
          </a:p>
        </p:txBody>
      </p:sp>
      <p:sp>
        <p:nvSpPr>
          <p:cNvPr id="12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06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추정치 재계산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입력이 늘고 비싼 출력이 줄었다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+666 / -680 / +156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640080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이 케이스에서 input과 cache는 서로 겹치지 않는 버킷으로 정의했다.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640080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벤더 usage 필드 이름과 동일하다고 가정하면 이중 계상할 수 있다.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77240" y="4233671"/>
          <a:ext cx="10652760" cy="16824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931920"/>
                <a:gridCol w="6720840"/>
              </a:tblGrid>
              <a:tr h="420624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93A4B5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비캐시 입력</a:t>
                      </a:r>
                    </a:p>
                  </a:txBody>
                  <a:tcPr marL="91440" marR="91440">
                    <a:solidFill>
                      <a:srgbClr val="111A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ECF1F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486 → 1,152  (증가 666)</a:t>
                      </a:r>
                    </a:p>
                  </a:txBody>
                  <a:tcPr marL="91440" marR="91440">
                    <a:solidFill>
                      <a:srgbClr val="111A24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93A4B5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추론+보이는 출력</a:t>
                      </a:r>
                    </a:p>
                  </a:txBody>
                  <a:tcPr marL="91440" marR="91440">
                    <a:solidFill>
                      <a:srgbClr val="1822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ECF1F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7,070 → 6,390  (감소 680)</a:t>
                      </a:r>
                    </a:p>
                  </a:txBody>
                  <a:tcPr marL="91440" marR="91440">
                    <a:solidFill>
                      <a:srgbClr val="18222E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93A4B5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캐시 입력(추정)</a:t>
                      </a:r>
                    </a:p>
                  </a:txBody>
                  <a:tcPr marL="91440" marR="91440">
                    <a:solidFill>
                      <a:srgbClr val="111A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ECF1F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312 → 468  (증가 156)</a:t>
                      </a:r>
                    </a:p>
                  </a:txBody>
                  <a:tcPr marL="91440" marR="91440">
                    <a:solidFill>
                      <a:srgbClr val="111A24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93A4B5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합계</a:t>
                      </a:r>
                    </a:p>
                  </a:txBody>
                  <a:tcPr marL="91440" marR="91440">
                    <a:solidFill>
                      <a:srgbClr val="1822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ECF1F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7,868 → 8,010  (증가 1.8%)</a:t>
                      </a:r>
                    </a:p>
                  </a:txBody>
                  <a:tcPr marL="91440" marR="91440">
                    <a:solidFill>
                      <a:srgbClr val="18222E"/>
                    </a:solidFill>
                  </a:tcPr>
                </a:tc>
              </a:tr>
            </a:tbl>
          </a:graphicData>
        </a:graphic>
      </p:graphicFrame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demo/vibe_vs_spec/usage.json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07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단가별 비용 재계산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세 단가로 같은 추정치를 환산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8.3% / 7.6% / 8.1% 비용 감소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640080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토큰은 그대로 두고 단가와 캐시 가정만 바꾼 산술이다.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640080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다른 모델을 실행한 실측이 아니며, 캐시 적격성은 미확인이다.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77240" y="4233671"/>
          <a:ext cx="10652760" cy="126187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931920"/>
                <a:gridCol w="6720840"/>
              </a:tblGrid>
              <a:tr h="420624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93A4B5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GPT-5 · 캐시 $0.125/M</a:t>
                      </a:r>
                    </a:p>
                  </a:txBody>
                  <a:tcPr marL="91440" marR="91440">
                    <a:solidFill>
                      <a:srgbClr val="111A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ECF1F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$0.0713465 → $0.0653985  (8.3% 감소)</a:t>
                      </a:r>
                    </a:p>
                  </a:txBody>
                  <a:tcPr marL="91440" marR="91440">
                    <a:solidFill>
                      <a:srgbClr val="111A24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93A4B5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Claude Sonnet 4.6 · 캐시 0.1×</a:t>
                      </a:r>
                    </a:p>
                  </a:txBody>
                  <a:tcPr marL="91440" marR="91440">
                    <a:solidFill>
                      <a:srgbClr val="1822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ECF1F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$0.1076016 → $0.0994464  (7.6% 감소)</a:t>
                      </a:r>
                    </a:p>
                  </a:txBody>
                  <a:tcPr marL="91440" marR="91440">
                    <a:solidFill>
                      <a:srgbClr val="18222E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93A4B5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GPT-5 · 캐시 전부 미적용</a:t>
                      </a:r>
                    </a:p>
                  </a:txBody>
                  <a:tcPr marL="91440" marR="91440">
                    <a:solidFill>
                      <a:srgbClr val="111A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ECF1F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$0.0716975 → $0.0659250  (8.1% 감소)</a:t>
                      </a:r>
                    </a:p>
                  </a:txBody>
                  <a:tcPr marL="91440" marR="91440">
                    <a:solidFill>
                      <a:srgbClr val="111A24"/>
                    </a:solidFill>
                  </a:tcPr>
                </a:tc>
              </a:tr>
            </a:tbl>
          </a:graphicData>
        </a:graphic>
      </p:graphicFrame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demo/vibe_vs_spec/cost_comparison.md · verify_case.py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08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단가 민감도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단가비가 손익을 결정한다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r &gt; (666 + 156h) / 680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640080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r = 출력/입력 단가, h = 캐시 읽기/입력 단가.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640080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모든 가격 체계에서의 보편 법칙이 아니라 고정 토큰 이동의 감도 분석이다.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77240" y="4233671"/>
          <a:ext cx="10652760" cy="16824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931920"/>
                <a:gridCol w="6720840"/>
              </a:tblGrid>
              <a:tr h="420624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93A4B5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손익분기 조건</a:t>
                      </a:r>
                    </a:p>
                  </a:txBody>
                  <a:tcPr marL="91440" marR="91440">
                    <a:solidFill>
                      <a:srgbClr val="111A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ECF1F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r &gt; (666 + 156h) / 680</a:t>
                      </a:r>
                    </a:p>
                  </a:txBody>
                  <a:tcPr marL="91440" marR="91440">
                    <a:solidFill>
                      <a:srgbClr val="111A24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93A4B5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h = 0.1이면</a:t>
                      </a:r>
                    </a:p>
                  </a:txBody>
                  <a:tcPr marL="91440" marR="91440">
                    <a:solidFill>
                      <a:srgbClr val="1822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ECF1F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r = 1.0024</a:t>
                      </a:r>
                    </a:p>
                  </a:txBody>
                  <a:tcPr marL="91440" marR="91440">
                    <a:solidFill>
                      <a:srgbClr val="18222E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93A4B5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r → ∞ 수렴</a:t>
                      </a:r>
                    </a:p>
                  </a:txBody>
                  <a:tcPr marL="91440" marR="91440">
                    <a:solidFill>
                      <a:srgbClr val="111A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ECF1F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약 9.62% 감소에 수렴</a:t>
                      </a:r>
                    </a:p>
                  </a:txBody>
                  <a:tcPr marL="91440" marR="91440">
                    <a:solidFill>
                      <a:srgbClr val="111A24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93A4B5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실제 청구서</a:t>
                      </a:r>
                    </a:p>
                  </a:txBody>
                  <a:tcPr marL="91440" marR="91440">
                    <a:solidFill>
                      <a:srgbClr val="1822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ECF1F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미확인 (usage 추정치 산술)</a:t>
                      </a:r>
                    </a:p>
                  </a:txBody>
                  <a:tcPr marL="91440" marR="91440">
                    <a:solidFill>
                      <a:srgbClr val="18222E"/>
                    </a:solidFill>
                  </a:tcPr>
                </a:tc>
              </a:tr>
            </a:tbl>
          </a:graphicData>
        </a:graphic>
      </p:graphicFrame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demo/vibe_vs_spec/sensitivity.py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09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현재 산출물의 실행 검사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품질 동등성 대신 실제 AC 범위를 공개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정적 16항목 + 브라우저 29항목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390/820/821/1280px 그리드·메뉴 표시·가로 스크롤 검사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각 카드의 내용과 세 앵커의 실제 스크롤 이동 검사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디자인 선호도·모든 사용자 의도·두 생성 과정의 품질 동등성은 검증하지 않는다.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demo/vibe_vs_spec/verify_ac.py · tools/browser_ac.py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10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변조 회귀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실패하는 반례도 넣는다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모바일 2열 변조 → FAIL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CSS에 미디어쿼리 문자열이 있다는 것만으로 1열 전환이 보장되지 않는다.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실제 렌더링된 gridTemplateColumns를 확인한다.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브라우저가 없으면 PASS가 아니라 UNVERIFIED(exit 2).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experiments/exp04_agent_loop_sdd.py (--warm-cache = legacy)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11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외부 보고의 범위 제한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반례의 비교 대상을 정확히 읽는다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SDD 도구 간 비교 ≠ SDD 대 무스펙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Spec-Kit +97~109%: OpenSpec 대비 두 사례의 외부 블로그 보고. 둘 다 SDD 접근.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ETH AGENTS.md 연구: 저장소 컨텍스트 파일 조건. 모든 짧은 스펙이 손해라는 실험 아님.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짧고 필요한 요구사항만 쓰라는 실무 원칙은 유지하되 효과를 직접 측정한다.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SOURCES.md §4 · arxiv.org/html/2602.11988v1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12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후속 계획 / 미실행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다음 실험: 스펙이 재작업을 줄이는가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사전등록된 품질·비용 비교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백지 스펙 작성 비용부터 포함하고 다수 과제를 무작위 배정한다.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같은 AC·모델·출력 예산·가격·캐시 조건으로 성공률과 총비용을 기록한다.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진행하지 않은 실험의 절감률은 결과로 채우지 않는다.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demo/vibe_vs_spec/EXPERIMENT_A_PROTOCOL.md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Vibe vs Spec</dc:title>
  <dc:subject>Evidence-consistent correction, 2026-09-20</dc:subject>
  <dc:creator>token-cost-lab</dc:creator>
  <cp:keywords>measured logs; local encoding; explicit scenarios; see docs/CORRECTIONS.md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