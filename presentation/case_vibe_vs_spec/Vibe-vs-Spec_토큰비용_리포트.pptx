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97480"/>
            <a:ext cx="12191695" cy="25400"/>
          </a:xfrm>
          <a:prstGeom prst="rect">
            <a:avLst/>
          </a:prstGeom>
          <a:solidFill>
            <a:srgbClr val="32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DD6C1"/>
                </a:solidFill>
                <a:latin typeface="Noto Sans KR"/>
              </a:rPr>
              <a:t>AI 웹 빌더 에이전트 실험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B08CFF"/>
                </a:solidFill>
                <a:latin typeface="Noto Sans KR"/>
              </a:rPr>
              <a:t>Vibe</a:t>
            </a:r>
            <a:r>
              <a:rPr sz="3600" b="0">
                <a:solidFill>
                  <a:srgbClr val="9AA3B8"/>
                </a:solidFill>
                <a:latin typeface="Noto Sans KR"/>
              </a:rPr>
              <a:t>  vs  </a:t>
            </a:r>
            <a:r>
              <a:rPr sz="4400" b="1">
                <a:solidFill>
                  <a:srgbClr val="4DD6C1"/>
                </a:solidFill>
                <a:latin typeface="Noto Sans KR"/>
              </a:rPr>
              <a:t>Spec</a:t>
            </a:r>
            <a:r>
              <a:rPr sz="3600" b="1">
                <a:solidFill>
                  <a:srgbClr val="EAEDF5"/>
                </a:solidFill>
                <a:latin typeface="Noto Sans KR"/>
              </a:rPr>
              <a:t>  — 같은 페이지, 다른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9AA3B8"/>
                </a:solidFill>
                <a:latin typeface="Noto Sans KR"/>
              </a:rPr>
              <a:t>AI 웹 빌더 에이전트로 동일한 카페 랜딩 페이지를 두 가지 방식으로 생성하고, 토큰·비용을 정량 비교하다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3767" y="3794760"/>
            <a:ext cx="3200400" cy="146304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2700">
            <a:solidFill>
              <a:srgbClr val="32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3767" y="400507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AA3B8"/>
                </a:solidFill>
                <a:latin typeface="Noto Sans KR"/>
              </a:rPr>
              <a:t>검증 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3767" y="4279392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4DD6C1"/>
                </a:solidFill>
                <a:latin typeface="Noto Sans KR"/>
              </a:rPr>
              <a:t>16/16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3767" y="486460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9AA3B8"/>
                </a:solidFill>
                <a:latin typeface="Noto Sans KR"/>
              </a:rPr>
              <a:t>Spec 모드 AC 자동 검증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647" y="3794760"/>
            <a:ext cx="3200400" cy="146304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2700">
            <a:solidFill>
              <a:srgbClr val="32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647" y="400507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AA3B8"/>
                </a:solidFill>
                <a:latin typeface="Noto Sans KR"/>
              </a:rPr>
              <a:t>토큰 차이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647" y="4279392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B85F"/>
                </a:solidFill>
                <a:latin typeface="Noto Sans KR"/>
              </a:rPr>
              <a:t>+1.8%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5647" y="486460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9AA3B8"/>
                </a:solidFill>
                <a:latin typeface="Noto Sans KR"/>
              </a:rPr>
              <a:t>Spec이 토큰은 더 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7527" y="3794760"/>
            <a:ext cx="3200400" cy="146304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2700">
            <a:solidFill>
              <a:srgbClr val="32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07527" y="400507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AA3B8"/>
                </a:solidFill>
                <a:latin typeface="Noto Sans KR"/>
              </a:rPr>
              <a:t>비용 차이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07527" y="4279392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3ECF8E"/>
                </a:solidFill>
                <a:latin typeface="Noto Sans KR"/>
              </a:rPr>
              <a:t>−8.3%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7527" y="486460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9AA3B8"/>
                </a:solidFill>
                <a:latin typeface="Noto Sans KR"/>
              </a:rPr>
              <a:t>그런데 돈은 덜 듦 (GPT-5 기준)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AA3B8"/>
                </a:solidFill>
                <a:latin typeface="Noto Sans KR"/>
              </a:rPr>
              <a:t>2026.08.15  ·  대화형 웹 빌더 CLI (파일 큐 훅 구조)  ·  단가: GPT-5 공시가 기준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DD6C1"/>
                </a:solidFill>
                <a:latin typeface="Noto Sans KR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DF5"/>
                </a:solidFill>
                <a:latin typeface="Noto Sans KR"/>
              </a:rPr>
              <a:t>같은 페이지를 만든 두 가지 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9AA3B8"/>
                </a:solidFill>
                <a:latin typeface="Noto Sans KR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83112" cy="20320"/>
          </a:xfrm>
          <a:prstGeom prst="rect">
            <a:avLst/>
          </a:prstGeom>
          <a:solidFill>
            <a:srgbClr val="32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AA3B8"/>
                </a:solidFill>
                <a:latin typeface="Noto Sans KR"/>
              </a:rPr>
              <a:t>공통 파이프라인 (CLI 기반 — 에이전트 LLM 훅 구조)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1965960" cy="777240"/>
          </a:xfrm>
          <a:prstGeom prst="roundRect">
            <a:avLst>
              <a:gd name="adj" fmla="val 15000"/>
            </a:avLst>
          </a:prstGeom>
          <a:solidFill>
            <a:srgbClr val="1A1F2B"/>
          </a:solidFill>
          <a:ln w="12700">
            <a:solidFill>
              <a:srgbClr val="32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11096"/>
            <a:ext cx="1965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AEDF5"/>
                </a:solidFill>
                <a:latin typeface="Noto Sans KR"/>
              </a:rPr>
              <a:t>ask 명령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03704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AA3B8"/>
                </a:solidFill>
                <a:latin typeface="Noto Sans KR"/>
              </a:rPr>
              <a:t>요청 큐 적재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828800"/>
            <a:ext cx="3200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9AA3B8"/>
                </a:solidFill>
                <a:latin typeface="Noto Sans KR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61488" y="1828800"/>
            <a:ext cx="1965960" cy="777240"/>
          </a:xfrm>
          <a:prstGeom prst="roundRect">
            <a:avLst>
              <a:gd name="adj" fmla="val 15000"/>
            </a:avLst>
          </a:prstGeom>
          <a:solidFill>
            <a:srgbClr val="1A1F2B"/>
          </a:solidFill>
          <a:ln w="12700">
            <a:solidFill>
              <a:srgbClr val="32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1488" y="1911096"/>
            <a:ext cx="1965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AEDF5"/>
                </a:solidFill>
                <a:latin typeface="Noto Sans KR"/>
              </a:rPr>
              <a:t>에이전트 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2203704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AA3B8"/>
                </a:solidFill>
                <a:latin typeface="Noto Sans KR"/>
              </a:rPr>
              <a:t>요청 읽기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1828800"/>
            <a:ext cx="3200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9AA3B8"/>
                </a:solidFill>
                <a:latin typeface="Noto Sans KR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0056" y="1828800"/>
            <a:ext cx="1965960" cy="777240"/>
          </a:xfrm>
          <a:prstGeom prst="roundRect">
            <a:avLst>
              <a:gd name="adj" fmla="val 15000"/>
            </a:avLst>
          </a:prstGeom>
          <a:solidFill>
            <a:srgbClr val="1A1F2B"/>
          </a:solidFill>
          <a:ln w="12700">
            <a:solidFill>
              <a:srgbClr val="32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0056" y="1911096"/>
            <a:ext cx="1965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AEDF5"/>
                </a:solidFill>
                <a:latin typeface="Noto Sans KR"/>
              </a:rPr>
              <a:t>코드 생성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0056" y="2203704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AA3B8"/>
                </a:solidFill>
                <a:latin typeface="Noto Sans KR"/>
              </a:rPr>
              <a:t>(index.html)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1828800"/>
            <a:ext cx="3200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9AA3B8"/>
                </a:solidFill>
                <a:latin typeface="Noto Sans KR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78624" y="1828800"/>
            <a:ext cx="1965960" cy="777240"/>
          </a:xfrm>
          <a:prstGeom prst="roundRect">
            <a:avLst>
              <a:gd name="adj" fmla="val 15000"/>
            </a:avLst>
          </a:prstGeom>
          <a:solidFill>
            <a:srgbClr val="1A1F2B"/>
          </a:solidFill>
          <a:ln w="12700">
            <a:solidFill>
              <a:srgbClr val="32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78624" y="1911096"/>
            <a:ext cx="1965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AEDF5"/>
                </a:solidFill>
                <a:latin typeface="Noto Sans KR"/>
              </a:rPr>
              <a:t>apply 명령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8624" y="2203704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AA3B8"/>
                </a:solidFill>
                <a:latin typeface="Noto Sans KR"/>
              </a:rPr>
              <a:t>site/ 반영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4" y="1828800"/>
            <a:ext cx="3200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9AA3B8"/>
                </a:solidFill>
                <a:latin typeface="Noto Sans KR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37192" y="1828800"/>
            <a:ext cx="1965960" cy="777240"/>
          </a:xfrm>
          <a:prstGeom prst="roundRect">
            <a:avLst>
              <a:gd name="adj" fmla="val 15000"/>
            </a:avLst>
          </a:prstGeom>
          <a:solidFill>
            <a:srgbClr val="1A1F2B"/>
          </a:solidFill>
          <a:ln w="12700">
            <a:solidFill>
              <a:srgbClr val="32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37192" y="1911096"/>
            <a:ext cx="1965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AEDF5"/>
                </a:solidFill>
                <a:latin typeface="Noto Sans KR"/>
              </a:rPr>
              <a:t>토큰 누적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37192" y="2203704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AA3B8"/>
                </a:solidFill>
                <a:latin typeface="Noto Sans KR"/>
              </a:rPr>
              <a:t>입력·추론·출력·캐시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2880360"/>
            <a:ext cx="5486400" cy="3063240"/>
          </a:xfrm>
          <a:prstGeom prst="roundRect">
            <a:avLst>
              <a:gd name="adj" fmla="val 5000"/>
            </a:avLst>
          </a:prstGeom>
          <a:solidFill>
            <a:srgbClr val="1A1F2B"/>
          </a:solidFill>
          <a:ln w="12700">
            <a:solidFill>
              <a:srgbClr val="B0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310896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B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0F1118"/>
                </a:solidFill>
                <a:latin typeface="Noto Sans KR"/>
              </a:rPr>
              <a:t>VIBE 모드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6118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EDF5"/>
                </a:solidFill>
                <a:latin typeface="Noto Sans KR"/>
              </a:rPr>
              <a:t>“카페 랜딩 페이지 만들어줘. 메뉴랑 매장 위치 포함”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1148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08CFF"/>
                </a:solidFill>
                <a:latin typeface="Noto Sans KR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114800"/>
            <a:ext cx="4709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3B8"/>
                </a:solidFill>
                <a:latin typeface="Noto Sans KR"/>
              </a:rPr>
              <a:t>입력: 자연어 한 문장 (25자)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62686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08CFF"/>
                </a:solidFill>
                <a:latin typeface="Noto Sans KR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626864"/>
            <a:ext cx="4709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3B8"/>
                </a:solidFill>
                <a:latin typeface="Noto Sans KR"/>
              </a:rPr>
              <a:t>설계 판단을 전부 에이전트가 수행 — 브랜드 컨셉, 팔레트, 섹션 구성, 디테일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13892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08CFF"/>
                </a:solidFill>
                <a:latin typeface="Noto Sans K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138928"/>
            <a:ext cx="4709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3B8"/>
                </a:solidFill>
                <a:latin typeface="Noto Sans KR"/>
              </a:rPr>
              <a:t>재량 디테일 다수 생성: eyebrow 배지, 도로명 라벨, L.O 표기 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65099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08CFF"/>
                </a:solidFill>
                <a:latin typeface="Noto Sans KR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650992"/>
            <a:ext cx="4709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3B8"/>
                </a:solidFill>
                <a:latin typeface="Noto Sans KR"/>
              </a:rPr>
              <a:t>검증 절차 없음 → 결과는 그럴듯하지만 비결정적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9632" y="2880360"/>
            <a:ext cx="5486400" cy="3063240"/>
          </a:xfrm>
          <a:prstGeom prst="roundRect">
            <a:avLst>
              <a:gd name="adj" fmla="val 5000"/>
            </a:avLst>
          </a:prstGeom>
          <a:solidFill>
            <a:srgbClr val="1A1F2B"/>
          </a:solidFill>
          <a:ln w="12700">
            <a:solidFill>
              <a:srgbClr val="4DD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73952" y="310896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4DD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0F1118"/>
                </a:solidFill>
                <a:latin typeface="Noto Sans KR"/>
              </a:rPr>
              <a:t>SPEC 모드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3952" y="36118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EDF5"/>
                </a:solidFill>
                <a:latin typeface="Noto Sans KR"/>
              </a:rPr>
              <a:t>--pages --stack --design --ac 4필드 결정적 스펙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3952" y="41148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DD6C1"/>
                </a:solidFill>
                <a:latin typeface="Noto Sans KR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02552" y="4114800"/>
            <a:ext cx="4709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3B8"/>
                </a:solidFill>
                <a:latin typeface="Noto Sans KR"/>
              </a:rPr>
              <a:t>입력: Vibe 결과물을 역산한 상세 스펙 (섹션 순서·팔레트 hex·radius 수치·AC 5항목)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3952" y="462686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DD6C1"/>
                </a:solidFill>
                <a:latin typeface="Noto Sans KR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02552" y="4626864"/>
            <a:ext cx="4709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3B8"/>
                </a:solidFill>
                <a:latin typeface="Noto Sans KR"/>
              </a:rPr>
              <a:t>설계 판단이 스펙으로 선결정 → 에이전트는 “구현”만 수행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3952" y="513892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DD6C1"/>
                </a:solidFill>
                <a:latin typeface="Noto Sans KR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02552" y="5138928"/>
            <a:ext cx="4709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3B8"/>
                </a:solidFill>
                <a:latin typeface="Noto Sans KR"/>
              </a:rPr>
              <a:t>스펙 외 요소 생성 금지 → 재량 디테일 제거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3952" y="565099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DD6C1"/>
                </a:solidFill>
                <a:latin typeface="Noto Sans KR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02552" y="5650992"/>
            <a:ext cx="4709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3B8"/>
                </a:solidFill>
                <a:latin typeface="Noto Sans KR"/>
              </a:rPr>
              <a:t>AC 자동 검증 16항목 → 16/16 PASS 게이트 통과 후 반영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DD6C1"/>
                </a:solidFill>
                <a:latin typeface="Noto Sans KR"/>
              </a:rPr>
              <a:t>OUTPUT ·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DF5"/>
                </a:solidFill>
                <a:latin typeface="Noto Sans KR"/>
              </a:rPr>
              <a:t>완성된 페이지 — 첫 화면은 거의 같다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9AA3B8"/>
                </a:solidFill>
                <a:latin typeface="Noto Sans KR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83112" cy="20320"/>
          </a:xfrm>
          <a:prstGeom prst="rect">
            <a:avLst/>
          </a:prstGeom>
          <a:solidFill>
            <a:srgbClr val="32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3870" y="1946910"/>
            <a:ext cx="5524500" cy="3467100"/>
          </a:xfrm>
          <a:prstGeom prst="rect">
            <a:avLst/>
          </a:prstGeom>
          <a:noFill/>
          <a:ln w="12700">
            <a:solidFill>
              <a:srgbClr val="B0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ibe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65960"/>
            <a:ext cx="5486400" cy="3429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157276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B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0F1118"/>
                </a:solidFill>
                <a:latin typeface="Noto Sans KR"/>
              </a:rPr>
              <a:t>VIBE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591056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A3B8"/>
                </a:solidFill>
                <a:latin typeface="Noto Sans KR"/>
              </a:rPr>
              <a:t>site/index_vibe.html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0582" y="1946910"/>
            <a:ext cx="5524500" cy="3467100"/>
          </a:xfrm>
          <a:prstGeom prst="rect">
            <a:avLst/>
          </a:prstGeom>
          <a:noFill/>
          <a:ln w="12700">
            <a:solidFill>
              <a:srgbClr val="4DD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pec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965960"/>
            <a:ext cx="5486400" cy="34290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199632" y="157276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4DD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0F1118"/>
                </a:solidFill>
                <a:latin typeface="Noto Sans KR"/>
              </a:rPr>
              <a:t>SPEC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1272" y="1591056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A3B8"/>
                </a:solidFill>
                <a:latin typeface="Noto Sans KR"/>
              </a:rPr>
              <a:t>site/index_spec.html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623560"/>
            <a:ext cx="11183112" cy="777240"/>
          </a:xfrm>
          <a:prstGeom prst="roundRect">
            <a:avLst>
              <a:gd name="adj" fmla="val 10000"/>
            </a:avLst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76072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EDF5"/>
                </a:solidFill>
                <a:latin typeface="Noto Sans KR"/>
              </a:rPr>
              <a:t>같은 브랜드·카피·팔레트·레이아웃 — 언뜻 구분이 안 된다. </a:t>
            </a:r>
            <a:r>
              <a:rPr sz="1350" b="0">
                <a:solidFill>
                  <a:srgbClr val="9AA3B8"/>
                </a:solidFill>
                <a:latin typeface="Noto Sans KR"/>
              </a:rPr>
              <a:t>차이는 디테일에 있다: Vibe에만 상단 eyebrow 배지(“수원 행궁동 · 매일 로스팅”)와 장식 도트가 존재 → 다음 슬라이드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DD6C1"/>
                </a:solidFill>
                <a:latin typeface="Noto Sans KR"/>
              </a:rPr>
              <a:t>OUTPUT · DIFF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DF5"/>
                </a:solidFill>
                <a:latin typeface="Noto Sans KR"/>
              </a:rPr>
              <a:t>전체 페이지 비교 — 차이는 디테일에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9AA3B8"/>
                </a:solidFill>
                <a:latin typeface="Noto Sans KR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83112" cy="20320"/>
          </a:xfrm>
          <a:prstGeom prst="rect">
            <a:avLst/>
          </a:prstGeom>
          <a:solidFill>
            <a:srgbClr val="32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3870" y="1672590"/>
            <a:ext cx="1793748" cy="4701540"/>
          </a:xfrm>
          <a:prstGeom prst="rect">
            <a:avLst/>
          </a:prstGeom>
          <a:noFill/>
          <a:ln w="12700">
            <a:solidFill>
              <a:srgbClr val="B0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ib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1755648" cy="466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382512"/>
            <a:ext cx="1755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08CFF"/>
                </a:solidFill>
                <a:latin typeface="Noto Sans KR"/>
              </a:rPr>
              <a:t>Vibe 전체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59558" y="1672590"/>
            <a:ext cx="1793748" cy="4701540"/>
          </a:xfrm>
          <a:prstGeom prst="rect">
            <a:avLst/>
          </a:prstGeom>
          <a:noFill/>
          <a:ln w="12700">
            <a:solidFill>
              <a:srgbClr val="4DD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pec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608" y="1691640"/>
            <a:ext cx="1755648" cy="4663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78608" y="6382512"/>
            <a:ext cx="1755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DD6C1"/>
                </a:solidFill>
                <a:latin typeface="Noto Sans KR"/>
              </a:rPr>
              <a:t>Spec 전체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26686" y="1672590"/>
            <a:ext cx="1432451" cy="3055620"/>
          </a:xfrm>
          <a:prstGeom prst="rect">
            <a:avLst/>
          </a:prstGeom>
          <a:noFill/>
          <a:ln w="12700">
            <a:solidFill>
              <a:srgbClr val="32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pec_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1691640"/>
            <a:ext cx="1394351" cy="3017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62856" y="4754880"/>
            <a:ext cx="176011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9AA3B8"/>
                </a:solidFill>
                <a:latin typeface="Noto Sans KR"/>
              </a:rPr>
              <a:t>Spec 모바일 390px
AC3: 1열·메뉴 숨김 충족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51567" y="1691640"/>
            <a:ext cx="5137208" cy="219456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2700">
            <a:solidFill>
              <a:srgbClr val="B0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80167" y="1828800"/>
            <a:ext cx="46800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08CFF"/>
                </a:solidFill>
                <a:latin typeface="Noto Sans KR"/>
              </a:rPr>
              <a:t>Vibe에만 있음 (재량 생성)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0167" y="221284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08CFF"/>
                </a:solidFill>
                <a:latin typeface="Noto Sans K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3047" y="2212848"/>
            <a:ext cx="44971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A3B8"/>
                </a:solidFill>
                <a:latin typeface="Noto Sans KR"/>
              </a:rPr>
              <a:t>eyebrow 배지 · 장식 도트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0167" y="261518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08CFF"/>
                </a:solidFill>
                <a:latin typeface="Noto Sans K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3047" y="2615184"/>
            <a:ext cx="44971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A3B8"/>
                </a:solidFill>
                <a:latin typeface="Noto Sans KR"/>
              </a:rPr>
              <a:t>지도 도로명 라벨 (행궁로·정조로)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0167" y="30175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08CFF"/>
                </a:solidFill>
                <a:latin typeface="Noto Sans K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3047" y="3017520"/>
            <a:ext cx="44971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A3B8"/>
                </a:solidFill>
                <a:latin typeface="Noto Sans KR"/>
              </a:rPr>
              <a:t>영업시간 L.O 표기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0167" y="341985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08CFF"/>
                </a:solidFill>
                <a:latin typeface="Noto Sans K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3047" y="3419856"/>
            <a:ext cx="44971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A3B8"/>
                </a:solidFill>
                <a:latin typeface="Noto Sans KR"/>
              </a:rPr>
              <a:t>지도 핀 빨강 (팔레트 밖 색)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51567" y="4069080"/>
            <a:ext cx="5137208" cy="219456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2700">
            <a:solidFill>
              <a:srgbClr val="4DD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0167" y="4206240"/>
            <a:ext cx="46800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DD6C1"/>
                </a:solidFill>
                <a:latin typeface="Noto Sans KR"/>
              </a:rPr>
              <a:t>Spec에만 있음 (스펙 준수)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0167" y="459028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DD6C1"/>
                </a:solidFill>
                <a:latin typeface="Noto Sans K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3047" y="4590288"/>
            <a:ext cx="44971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A3B8"/>
                </a:solidFill>
                <a:latin typeface="Noto Sans KR"/>
              </a:rPr>
              <a:t>radius·패딩 CSS 변수 토큰화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0167" y="499262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DD6C1"/>
                </a:solidFill>
                <a:latin typeface="Noto Sans KR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3047" y="4992624"/>
            <a:ext cx="44971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A3B8"/>
                </a:solidFill>
                <a:latin typeface="Noto Sans KR"/>
              </a:rPr>
              <a:t>가로 스크롤 차단 명시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0167" y="5394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DD6C1"/>
                </a:solidFill>
                <a:latin typeface="Noto Sans KR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3047" y="5394960"/>
            <a:ext cx="44971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A3B8"/>
                </a:solidFill>
                <a:latin typeface="Noto Sans KR"/>
              </a:rPr>
              <a:t>article·ul 시맨틱 + aria-label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0167" y="579729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DD6C1"/>
                </a:solidFill>
                <a:latin typeface="Noto Sans K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3047" y="5797296"/>
            <a:ext cx="44971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A3B8"/>
                </a:solidFill>
                <a:latin typeface="Noto Sans KR"/>
              </a:rPr>
              <a:t>지도 핀 caramel (팔레트 준수)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DD6C1"/>
                </a:solidFill>
                <a:latin typeface="Noto Sans KR"/>
              </a:rPr>
              <a:t>TOKENS · 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DF5"/>
                </a:solidFill>
                <a:latin typeface="Noto Sans KR"/>
              </a:rPr>
              <a:t>토큰 총량 비교 — Spec이 오히려 더 썼다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9AA3B8"/>
                </a:solidFill>
                <a:latin typeface="Noto Sans KR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83112" cy="20320"/>
          </a:xfrm>
          <a:prstGeom prst="rect">
            <a:avLst/>
          </a:prstGeom>
          <a:solidFill>
            <a:srgbClr val="32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5394960" cy="155448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2700">
            <a:solidFill>
              <a:srgbClr val="B0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08CFF"/>
                </a:solidFill>
                <a:latin typeface="Noto Sans KR"/>
              </a:rPr>
              <a:t>VIBE 총 토큰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EAEDF5"/>
                </a:solidFill>
                <a:latin typeface="Noto Sans KR"/>
              </a:rPr>
              <a:t>7,868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51460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3B8"/>
                </a:solidFill>
                <a:latin typeface="Noto Sans KR"/>
              </a:rPr>
              <a:t>tokens / 1회 생성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600200"/>
            <a:ext cx="5394960" cy="155448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2700">
            <a:solidFill>
              <a:srgbClr val="4DD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7830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DD6C1"/>
                </a:solidFill>
                <a:latin typeface="Noto Sans KR"/>
              </a:rPr>
              <a:t>SPEC 총 토큰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10312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EAEDF5"/>
                </a:solidFill>
                <a:latin typeface="Noto Sans KR"/>
              </a:rPr>
              <a:t>8,010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51460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B85F"/>
                </a:solidFill>
                <a:latin typeface="Noto Sans KR"/>
              </a:rPr>
              <a:t>+142 (+1.8%)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4290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AA3B8"/>
                </a:solidFill>
                <a:latin typeface="Noto Sans KR"/>
              </a:rPr>
              <a:t>구성 (누적 막대)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94760"/>
            <a:ext cx="1325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08CFF"/>
                </a:solidFill>
                <a:latin typeface="Noto Sans KR"/>
              </a:rPr>
              <a:t>Vibe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3794760"/>
            <a:ext cx="532612" cy="475488"/>
          </a:xfrm>
          <a:prstGeom prst="rect">
            <a:avLst/>
          </a:prstGeom>
          <a:solidFill>
            <a:srgbClr val="5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2852" y="3794760"/>
            <a:ext cx="1358928" cy="475488"/>
          </a:xfrm>
          <a:prstGeom prst="rect">
            <a:avLst/>
          </a:prstGeom>
          <a:solidFill>
            <a:srgbClr val="F5B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F1118"/>
                </a:solidFill>
                <a:latin typeface="Noto Sans KR"/>
              </a:rPr>
              <a:t>1,240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11780" y="3794760"/>
            <a:ext cx="6389155" cy="475488"/>
          </a:xfrm>
          <a:prstGeom prst="rect">
            <a:avLst/>
          </a:prstGeom>
          <a:solidFill>
            <a:srgbClr val="3EC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F1118"/>
                </a:solidFill>
                <a:latin typeface="Noto Sans KR"/>
              </a:rPr>
              <a:t>5,830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00935" y="3794760"/>
            <a:ext cx="341923" cy="475488"/>
          </a:xfrm>
          <a:prstGeom prst="rect">
            <a:avLst/>
          </a:prstGeom>
          <a:solidFill>
            <a:srgbClr val="4DD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2858" y="3794760"/>
            <a:ext cx="10972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AEDF5"/>
                </a:solidFill>
                <a:latin typeface="Noto Sans KR"/>
              </a:rPr>
              <a:t>7,868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526280"/>
            <a:ext cx="1325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DD6C1"/>
                </a:solidFill>
                <a:latin typeface="Noto Sans KR"/>
              </a:rPr>
              <a:t>Spec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4526280"/>
            <a:ext cx="1262488" cy="475488"/>
          </a:xfrm>
          <a:prstGeom prst="rect">
            <a:avLst/>
          </a:prstGeom>
          <a:solidFill>
            <a:srgbClr val="5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F1118"/>
                </a:solidFill>
                <a:latin typeface="Noto Sans KR"/>
              </a:rPr>
              <a:t>1,152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82728" y="4526280"/>
            <a:ext cx="1073991" cy="475488"/>
          </a:xfrm>
          <a:prstGeom prst="rect">
            <a:avLst/>
          </a:prstGeom>
          <a:solidFill>
            <a:srgbClr val="F5B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F1118"/>
                </a:solidFill>
                <a:latin typeface="Noto Sans KR"/>
              </a:rPr>
              <a:t>980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6719" y="4526280"/>
            <a:ext cx="5928873" cy="475488"/>
          </a:xfrm>
          <a:prstGeom prst="rect">
            <a:avLst/>
          </a:prstGeom>
          <a:solidFill>
            <a:srgbClr val="3EC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F1118"/>
                </a:solidFill>
                <a:latin typeface="Noto Sans KR"/>
              </a:rPr>
              <a:t>5,410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85592" y="4526280"/>
            <a:ext cx="512885" cy="475488"/>
          </a:xfrm>
          <a:prstGeom prst="rect">
            <a:avLst/>
          </a:prstGeom>
          <a:solidFill>
            <a:srgbClr val="4DD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58477" y="4526280"/>
            <a:ext cx="10972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AEDF5"/>
                </a:solidFill>
                <a:latin typeface="Noto Sans KR"/>
              </a:rPr>
              <a:t>8,010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20240" y="5257800"/>
            <a:ext cx="201168" cy="201168"/>
          </a:xfrm>
          <a:prstGeom prst="roundRect">
            <a:avLst>
              <a:gd name="adj" fmla="val 30000"/>
            </a:avLst>
          </a:prstGeom>
          <a:solidFill>
            <a:srgbClr val="5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94560" y="522122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3B8"/>
                </a:solidFill>
                <a:latin typeface="Noto Sans KR"/>
              </a:rPr>
              <a:t>입력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08960" y="5257800"/>
            <a:ext cx="201168" cy="201168"/>
          </a:xfrm>
          <a:prstGeom prst="roundRect">
            <a:avLst>
              <a:gd name="adj" fmla="val 30000"/>
            </a:avLst>
          </a:prstGeom>
          <a:solidFill>
            <a:srgbClr val="F5B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522122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3B8"/>
                </a:solidFill>
                <a:latin typeface="Noto Sans KR"/>
              </a:rPr>
              <a:t>추론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5257800"/>
            <a:ext cx="201168" cy="201168"/>
          </a:xfrm>
          <a:prstGeom prst="roundRect">
            <a:avLst>
              <a:gd name="adj" fmla="val 30000"/>
            </a:avLst>
          </a:prstGeom>
          <a:solidFill>
            <a:srgbClr val="3EC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522122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3B8"/>
                </a:solidFill>
                <a:latin typeface="Noto Sans KR"/>
              </a:rPr>
              <a:t>출력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0" y="5257800"/>
            <a:ext cx="201168" cy="201168"/>
          </a:xfrm>
          <a:prstGeom prst="roundRect">
            <a:avLst>
              <a:gd name="adj" fmla="val 30000"/>
            </a:avLst>
          </a:prstGeom>
          <a:solidFill>
            <a:srgbClr val="4DD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0" y="522122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3B8"/>
                </a:solidFill>
                <a:latin typeface="Noto Sans KR"/>
              </a:rPr>
              <a:t>캐시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715000"/>
            <a:ext cx="11183112" cy="685800"/>
          </a:xfrm>
          <a:prstGeom prst="roundRect">
            <a:avLst>
              <a:gd name="adj" fmla="val 10000"/>
            </a:avLst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870448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EDF5"/>
                </a:solidFill>
                <a:latin typeface="Noto Sans KR"/>
              </a:rPr>
              <a:t>총량만 보면 Spec이 손해처럼 보인다. </a:t>
            </a:r>
            <a:r>
              <a:rPr sz="1350" b="0">
                <a:solidFill>
                  <a:srgbClr val="9AA3B8"/>
                </a:solidFill>
                <a:latin typeface="Noto Sans KR"/>
              </a:rPr>
              <a:t>하지만 토큰은 종류마다 단가가 다르다 → 다음 슬라이드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DD6C1"/>
                </a:solidFill>
                <a:latin typeface="Noto Sans KR"/>
              </a:rPr>
              <a:t>TOKENS ·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DF5"/>
                </a:solidFill>
                <a:latin typeface="Noto Sans KR"/>
              </a:rPr>
              <a:t>토큰 종류별 사용량 — 구조가 이동했다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9AA3B8"/>
                </a:solidFill>
                <a:latin typeface="Noto Sans KR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83112" cy="20320"/>
          </a:xfrm>
          <a:prstGeom prst="rect">
            <a:avLst/>
          </a:prstGeom>
          <a:solidFill>
            <a:srgbClr val="32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6675118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8019"/>
                <a:gridCol w="1068019"/>
                <a:gridCol w="1068019"/>
                <a:gridCol w="934516"/>
                <a:gridCol w="2536545"/>
              </a:tblGrid>
              <a:tr h="502920">
                <a:tc>
                  <a:txBody>
                    <a:bodyPr wrap="none"/>
                    <a:lstStyle/>
                    <a:p>
                      <a:pPr algn="l"/>
                      <a:r>
                        <a:rPr sz="1250" b="1">
                          <a:solidFill>
                            <a:srgbClr val="9AA3B8"/>
                          </a:solidFill>
                          <a:latin typeface="Noto Sans KR"/>
                        </a:rPr>
                        <a:t>구분</a:t>
                      </a:r>
                    </a:p>
                  </a:txBody>
                  <a:tcPr marL="90000" marR="90000" marT="30000" marB="30000" anchor="ctr">
                    <a:solidFill>
                      <a:srgbClr val="22283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9AA3B8"/>
                          </a:solidFill>
                          <a:latin typeface="Noto Sans KR"/>
                        </a:rPr>
                        <a:t>Vibe</a:t>
                      </a:r>
                    </a:p>
                  </a:txBody>
                  <a:tcPr marL="90000" marR="90000" marT="30000" marB="30000" anchor="ctr">
                    <a:solidFill>
                      <a:srgbClr val="22283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9AA3B8"/>
                          </a:solidFill>
                          <a:latin typeface="Noto Sans KR"/>
                        </a:rPr>
                        <a:t>Spec</a:t>
                      </a:r>
                    </a:p>
                  </a:txBody>
                  <a:tcPr marL="90000" marR="90000" marT="30000" marB="30000" anchor="ctr">
                    <a:solidFill>
                      <a:srgbClr val="22283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9AA3B8"/>
                          </a:solidFill>
                          <a:latin typeface="Noto Sans KR"/>
                        </a:rPr>
                        <a:t>차이</a:t>
                      </a:r>
                    </a:p>
                  </a:txBody>
                  <a:tcPr marL="90000" marR="90000" marT="30000" marB="30000" anchor="ctr">
                    <a:solidFill>
                      <a:srgbClr val="22283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9AA3B8"/>
                          </a:solidFill>
                          <a:latin typeface="Noto Sans KR"/>
                        </a:rPr>
                        <a:t>변화</a:t>
                      </a:r>
                    </a:p>
                  </a:txBody>
                  <a:tcPr marL="90000" marR="90000" marT="30000" marB="30000" anchor="ctr">
                    <a:solidFill>
                      <a:srgbClr val="222838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l"/>
                      <a:r>
                        <a:rPr sz="1250" b="1">
                          <a:solidFill>
                            <a:srgbClr val="5AA7FF"/>
                          </a:solidFill>
                          <a:latin typeface="Noto Sans KR"/>
                        </a:rPr>
                        <a:t>입력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EAEDF5"/>
                          </a:solidFill>
                          <a:latin typeface="Noto Sans KR"/>
                        </a:rPr>
                        <a:t>486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EAEDF5"/>
                          </a:solidFill>
                          <a:latin typeface="Noto Sans KR"/>
                        </a:rPr>
                        <a:t>1,152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F5B85F"/>
                          </a:solidFill>
                          <a:latin typeface="Noto Sans KR"/>
                        </a:rPr>
                        <a:t>+666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F5B85F"/>
                          </a:solidFill>
                          <a:latin typeface="Noto Sans KR"/>
                        </a:rPr>
                        <a:t>+137%  스펙 텍스트만큼 증가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l"/>
                      <a:r>
                        <a:rPr sz="1250" b="1">
                          <a:solidFill>
                            <a:srgbClr val="F5B85F"/>
                          </a:solidFill>
                          <a:latin typeface="Noto Sans KR"/>
                        </a:rPr>
                        <a:t>추론</a:t>
                      </a:r>
                    </a:p>
                  </a:txBody>
                  <a:tcPr marL="90000" marR="90000" marT="30000" marB="30000" anchor="ctr">
                    <a:solidFill>
                      <a:srgbClr val="161A2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EAEDF5"/>
                          </a:solidFill>
                          <a:latin typeface="Noto Sans KR"/>
                        </a:rPr>
                        <a:t>1,240</a:t>
                      </a:r>
                    </a:p>
                  </a:txBody>
                  <a:tcPr marL="90000" marR="90000" marT="30000" marB="30000" anchor="ctr">
                    <a:solidFill>
                      <a:srgbClr val="161A2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EAEDF5"/>
                          </a:solidFill>
                          <a:latin typeface="Noto Sans KR"/>
                        </a:rPr>
                        <a:t>980</a:t>
                      </a:r>
                    </a:p>
                  </a:txBody>
                  <a:tcPr marL="90000" marR="90000" marT="30000" marB="30000" anchor="ctr">
                    <a:solidFill>
                      <a:srgbClr val="161A2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3ECF8E"/>
                          </a:solidFill>
                          <a:latin typeface="Noto Sans KR"/>
                        </a:rPr>
                        <a:t>-260</a:t>
                      </a:r>
                    </a:p>
                  </a:txBody>
                  <a:tcPr marL="90000" marR="90000" marT="30000" marB="30000" anchor="ctr">
                    <a:solidFill>
                      <a:srgbClr val="161A2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3ECF8E"/>
                          </a:solidFill>
                          <a:latin typeface="Noto Sans KR"/>
                        </a:rPr>
                        <a:t>−21%  “무엇을 만들지”가 선결정됨</a:t>
                      </a:r>
                    </a:p>
                  </a:txBody>
                  <a:tcPr marL="90000" marR="90000" marT="30000" marB="30000" anchor="ctr">
                    <a:solidFill>
                      <a:srgbClr val="161A25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l"/>
                      <a:r>
                        <a:rPr sz="1250" b="1">
                          <a:solidFill>
                            <a:srgbClr val="3ECF8E"/>
                          </a:solidFill>
                          <a:latin typeface="Noto Sans KR"/>
                        </a:rPr>
                        <a:t>출력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EAEDF5"/>
                          </a:solidFill>
                          <a:latin typeface="Noto Sans KR"/>
                        </a:rPr>
                        <a:t>5,830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EAEDF5"/>
                          </a:solidFill>
                          <a:latin typeface="Noto Sans KR"/>
                        </a:rPr>
                        <a:t>5,410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3ECF8E"/>
                          </a:solidFill>
                          <a:latin typeface="Noto Sans KR"/>
                        </a:rPr>
                        <a:t>-420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3ECF8E"/>
                          </a:solidFill>
                          <a:latin typeface="Noto Sans KR"/>
                        </a:rPr>
                        <a:t>−7%  스펙 외 요소 미생성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l"/>
                      <a:r>
                        <a:rPr sz="1250" b="1">
                          <a:solidFill>
                            <a:srgbClr val="4DD6C1"/>
                          </a:solidFill>
                          <a:latin typeface="Noto Sans KR"/>
                        </a:rPr>
                        <a:t>캐시</a:t>
                      </a:r>
                    </a:p>
                  </a:txBody>
                  <a:tcPr marL="90000" marR="90000" marT="30000" marB="30000" anchor="ctr">
                    <a:solidFill>
                      <a:srgbClr val="161A2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EAEDF5"/>
                          </a:solidFill>
                          <a:latin typeface="Noto Sans KR"/>
                        </a:rPr>
                        <a:t>312</a:t>
                      </a:r>
                    </a:p>
                  </a:txBody>
                  <a:tcPr marL="90000" marR="90000" marT="30000" marB="30000" anchor="ctr">
                    <a:solidFill>
                      <a:srgbClr val="161A2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EAEDF5"/>
                          </a:solidFill>
                          <a:latin typeface="Noto Sans KR"/>
                        </a:rPr>
                        <a:t>468</a:t>
                      </a:r>
                    </a:p>
                  </a:txBody>
                  <a:tcPr marL="90000" marR="90000" marT="30000" marB="30000" anchor="ctr">
                    <a:solidFill>
                      <a:srgbClr val="161A2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9AA3B8"/>
                          </a:solidFill>
                          <a:latin typeface="Noto Sans KR"/>
                        </a:rPr>
                        <a:t>+156</a:t>
                      </a:r>
                    </a:p>
                  </a:txBody>
                  <a:tcPr marL="90000" marR="90000" marT="30000" marB="30000" anchor="ctr">
                    <a:solidFill>
                      <a:srgbClr val="161A2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9AA3B8"/>
                          </a:solidFill>
                          <a:latin typeface="Noto Sans KR"/>
                        </a:rPr>
                        <a:t>+50%  직전 컨텍스트 재사용</a:t>
                      </a:r>
                    </a:p>
                  </a:txBody>
                  <a:tcPr marL="90000" marR="90000" marT="30000" marB="30000" anchor="ctr">
                    <a:solidFill>
                      <a:srgbClr val="161A25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l"/>
                      <a:r>
                        <a:rPr sz="1250" b="1">
                          <a:solidFill>
                            <a:srgbClr val="EAEDF5"/>
                          </a:solidFill>
                          <a:latin typeface="Noto Sans KR"/>
                        </a:rPr>
                        <a:t>합계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EAEDF5"/>
                          </a:solidFill>
                          <a:latin typeface="Noto Sans KR"/>
                        </a:rPr>
                        <a:t>7,868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EAEDF5"/>
                          </a:solidFill>
                          <a:latin typeface="Noto Sans KR"/>
                        </a:rPr>
                        <a:t>8,010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F5B85F"/>
                          </a:solidFill>
                          <a:latin typeface="Noto Sans KR"/>
                        </a:rPr>
                        <a:t>+142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F5B85F"/>
                          </a:solidFill>
                          <a:latin typeface="Noto Sans KR"/>
                        </a:rPr>
                        <a:t>+1.8%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43800" y="16002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9AA3B8"/>
                </a:solidFill>
                <a:latin typeface="Noto Sans KR"/>
              </a:rPr>
              <a:t>종류별 페어 비교 (막대 = 토큰 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993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AA7FF"/>
                </a:solidFill>
                <a:latin typeface="Noto Sans KR"/>
              </a:rPr>
              <a:t>입력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011680"/>
            <a:ext cx="228678" cy="201168"/>
          </a:xfrm>
          <a:prstGeom prst="roundRect">
            <a:avLst>
              <a:gd name="adj" fmla="val 40000"/>
            </a:avLst>
          </a:prstGeom>
          <a:solidFill>
            <a:srgbClr val="B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438" y="197510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A3B8"/>
                </a:solidFill>
                <a:latin typeface="Noto Sans KR"/>
              </a:rPr>
              <a:t>486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267712"/>
            <a:ext cx="542052" cy="201168"/>
          </a:xfrm>
          <a:prstGeom prst="roundRect">
            <a:avLst>
              <a:gd name="adj" fmla="val 40000"/>
            </a:avLst>
          </a:prstGeom>
          <a:solidFill>
            <a:srgbClr val="4DD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08812" y="223113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A3B8"/>
                </a:solidFill>
                <a:latin typeface="Noto Sans KR"/>
              </a:rPr>
              <a:t>1,152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6334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B85F"/>
                </a:solidFill>
                <a:latin typeface="Noto Sans KR"/>
              </a:rPr>
              <a:t>추론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651760"/>
            <a:ext cx="583459" cy="201168"/>
          </a:xfrm>
          <a:prstGeom prst="roundRect">
            <a:avLst>
              <a:gd name="adj" fmla="val 40000"/>
            </a:avLst>
          </a:prstGeom>
          <a:solidFill>
            <a:srgbClr val="B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0219" y="261518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A3B8"/>
                </a:solidFill>
                <a:latin typeface="Noto Sans KR"/>
              </a:rPr>
              <a:t>1,240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2907792"/>
            <a:ext cx="461121" cy="201168"/>
          </a:xfrm>
          <a:prstGeom prst="roundRect">
            <a:avLst>
              <a:gd name="adj" fmla="val 40000"/>
            </a:avLst>
          </a:prstGeom>
          <a:solidFill>
            <a:srgbClr val="4DD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7881" y="28712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A3B8"/>
                </a:solidFill>
                <a:latin typeface="Noto Sans KR"/>
              </a:rPr>
              <a:t>980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2735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ECF8E"/>
                </a:solidFill>
                <a:latin typeface="Noto Sans KR"/>
              </a:rPr>
              <a:t>출력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3291840"/>
            <a:ext cx="2743200" cy="201168"/>
          </a:xfrm>
          <a:prstGeom prst="roundRect">
            <a:avLst>
              <a:gd name="adj" fmla="val 40000"/>
            </a:avLst>
          </a:prstGeom>
          <a:solidFill>
            <a:srgbClr val="B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09960" y="32552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A3B8"/>
                </a:solidFill>
                <a:latin typeface="Noto Sans KR"/>
              </a:rPr>
              <a:t>5,830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3547872"/>
            <a:ext cx="2545576" cy="201168"/>
          </a:xfrm>
          <a:prstGeom prst="roundRect">
            <a:avLst>
              <a:gd name="adj" fmla="val 40000"/>
            </a:avLst>
          </a:prstGeom>
          <a:solidFill>
            <a:srgbClr val="4DD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12336" y="35112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A3B8"/>
                </a:solidFill>
                <a:latin typeface="Noto Sans KR"/>
              </a:rPr>
              <a:t>5,410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3913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DD6C1"/>
                </a:solidFill>
                <a:latin typeface="Noto Sans KR"/>
              </a:rPr>
              <a:t>캐시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3931920"/>
            <a:ext cx="146805" cy="201168"/>
          </a:xfrm>
          <a:prstGeom prst="roundRect">
            <a:avLst>
              <a:gd name="adj" fmla="val 40000"/>
            </a:avLst>
          </a:prstGeom>
          <a:solidFill>
            <a:srgbClr val="B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13565" y="389534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A3B8"/>
                </a:solidFill>
                <a:latin typeface="Noto Sans KR"/>
              </a:rPr>
              <a:t>312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4187952"/>
            <a:ext cx="220208" cy="201168"/>
          </a:xfrm>
          <a:prstGeom prst="roundRect">
            <a:avLst>
              <a:gd name="adj" fmla="val 40000"/>
            </a:avLst>
          </a:prstGeom>
          <a:solidFill>
            <a:srgbClr val="4DD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86968" y="4151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A3B8"/>
                </a:solidFill>
                <a:latin typeface="Noto Sans KR"/>
              </a:rPr>
              <a:t>468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43800" y="4626864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B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81544" y="45902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A3B8"/>
                </a:solidFill>
                <a:latin typeface="Noto Sans KR"/>
              </a:rPr>
              <a:t>Vibe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49640" y="4626864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4DD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05672" y="45902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A3B8"/>
                </a:solidFill>
                <a:latin typeface="Noto Sans KR"/>
              </a:rPr>
              <a:t>Spec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983480"/>
            <a:ext cx="11183112" cy="132588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2700">
            <a:solidFill>
              <a:srgbClr val="32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16636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DD6C1"/>
                </a:solidFill>
                <a:latin typeface="Noto Sans KR"/>
              </a:rPr>
              <a:t>핵심: </a:t>
            </a:r>
            <a:r>
              <a:rPr sz="1500" b="1">
                <a:solidFill>
                  <a:srgbClr val="EAEDF5"/>
                </a:solidFill>
                <a:latin typeface="Noto Sans KR"/>
              </a:rPr>
              <a:t>토큰이 “늘어난” 게 아니라 “이동”했다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57784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AA3B8"/>
                </a:solidFill>
                <a:latin typeface="Noto Sans KR"/>
              </a:rPr>
              <a:t>Spec 모드는 사람이 쓴 스펙(입력 +666)이 모델의 고민(추론 −260)과 재량 생성(출력 −420)을 대체한다. </a:t>
            </a:r>
            <a:r>
              <a:rPr sz="1300" b="1">
                <a:solidFill>
                  <a:srgbClr val="EAEDF5"/>
                </a:solidFill>
                <a:latin typeface="Noto Sans KR"/>
              </a:rPr>
              <a:t>즉, 설계 비용이 “모델 추론”에서 “프롬프트”로 옮겨간 것.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DD6C1"/>
                </a:solidFill>
                <a:latin typeface="Noto Sans KR"/>
              </a:rPr>
              <a:t>COST · GPT-5 단가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DF5"/>
                </a:solidFill>
                <a:latin typeface="Noto Sans KR"/>
              </a:rPr>
              <a:t>가격 비교 — 토큰은 더 썼는데 돈은 덜 들었다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9AA3B8"/>
                </a:solidFill>
                <a:latin typeface="Noto Sans KR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83112" cy="20320"/>
          </a:xfrm>
          <a:prstGeom prst="rect">
            <a:avLst/>
          </a:prstGeom>
          <a:solidFill>
            <a:srgbClr val="32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9AA3B8"/>
                </a:solidFill>
                <a:latin typeface="Noto Sans KR"/>
              </a:rPr>
              <a:t>GPT-5 공시 단가 (per 1M tokens)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828800"/>
          <a:ext cx="493775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817"/>
                <a:gridCol w="1086307"/>
                <a:gridCol w="2567635"/>
              </a:tblGrid>
              <a:tr h="457200">
                <a:tc>
                  <a:txBody>
                    <a:bodyPr wrap="none"/>
                    <a:lstStyle/>
                    <a:p>
                      <a:pPr algn="l"/>
                      <a:r>
                        <a:rPr sz="1200" b="1">
                          <a:solidFill>
                            <a:srgbClr val="9AA3B8"/>
                          </a:solidFill>
                          <a:latin typeface="Noto Sans KR"/>
                        </a:rPr>
                        <a:t>항목</a:t>
                      </a:r>
                    </a:p>
                  </a:txBody>
                  <a:tcPr marL="90000" marR="90000" marT="30000" marB="30000" anchor="ctr">
                    <a:solidFill>
                      <a:srgbClr val="22283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9AA3B8"/>
                          </a:solidFill>
                          <a:latin typeface="Noto Sans KR"/>
                        </a:rPr>
                        <a:t>단가</a:t>
                      </a:r>
                    </a:p>
                  </a:txBody>
                  <a:tcPr marL="90000" marR="90000" marT="30000" marB="30000" anchor="ctr">
                    <a:solidFill>
                      <a:srgbClr val="22283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9AA3B8"/>
                          </a:solidFill>
                          <a:latin typeface="Noto Sans KR"/>
                        </a:rPr>
                        <a:t>비고</a:t>
                      </a:r>
                    </a:p>
                  </a:txBody>
                  <a:tcPr marL="90000" marR="90000" marT="30000" marB="30000" anchor="ctr">
                    <a:solidFill>
                      <a:srgbClr val="222838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l"/>
                      <a:r>
                        <a:rPr sz="1200" b="1">
                          <a:solidFill>
                            <a:srgbClr val="5AA7FF"/>
                          </a:solidFill>
                          <a:latin typeface="Noto Sans KR"/>
                        </a:rPr>
                        <a:t>입력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EAEDF5"/>
                          </a:solidFill>
                          <a:latin typeface="Noto Sans KR"/>
                        </a:rPr>
                        <a:t>$1.25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EAEDF5"/>
                          </a:solidFill>
                          <a:latin typeface="Noto Sans KR"/>
                        </a:rPr>
                        <a:t>프롬프트·스펙·컨텍스트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l"/>
                      <a:r>
                        <a:rPr sz="1200" b="1">
                          <a:solidFill>
                            <a:srgbClr val="F5B85F"/>
                          </a:solidFill>
                          <a:latin typeface="Noto Sans KR"/>
                        </a:rPr>
                        <a:t>추론</a:t>
                      </a:r>
                    </a:p>
                  </a:txBody>
                  <a:tcPr marL="90000" marR="90000" marT="30000" marB="30000" anchor="ctr">
                    <a:solidFill>
                      <a:srgbClr val="161A2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EAEDF5"/>
                          </a:solidFill>
                          <a:latin typeface="Noto Sans KR"/>
                        </a:rPr>
                        <a:t>$10.00</a:t>
                      </a:r>
                    </a:p>
                  </a:txBody>
                  <a:tcPr marL="90000" marR="90000" marT="30000" marB="30000" anchor="ctr">
                    <a:solidFill>
                      <a:srgbClr val="161A2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5B85F"/>
                          </a:solidFill>
                          <a:latin typeface="Noto Sans KR"/>
                        </a:rPr>
                        <a:t>출력 요율로 과금</a:t>
                      </a:r>
                    </a:p>
                  </a:txBody>
                  <a:tcPr marL="90000" marR="90000" marT="30000" marB="30000" anchor="ctr">
                    <a:solidFill>
                      <a:srgbClr val="161A25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l"/>
                      <a:r>
                        <a:rPr sz="1200" b="1">
                          <a:solidFill>
                            <a:srgbClr val="3ECF8E"/>
                          </a:solidFill>
                          <a:latin typeface="Noto Sans KR"/>
                        </a:rPr>
                        <a:t>출력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EAEDF5"/>
                          </a:solidFill>
                          <a:latin typeface="Noto Sans KR"/>
                        </a:rPr>
                        <a:t>$10.00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EAEDF5"/>
                          </a:solidFill>
                          <a:latin typeface="Noto Sans KR"/>
                        </a:rPr>
                        <a:t>생성 코드·응답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l"/>
                      <a:r>
                        <a:rPr sz="1200" b="1">
                          <a:solidFill>
                            <a:srgbClr val="4DD6C1"/>
                          </a:solidFill>
                          <a:latin typeface="Noto Sans KR"/>
                        </a:rPr>
                        <a:t>캐시 읽기</a:t>
                      </a:r>
                    </a:p>
                  </a:txBody>
                  <a:tcPr marL="90000" marR="90000" marT="30000" marB="30000" anchor="ctr">
                    <a:solidFill>
                      <a:srgbClr val="161A2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EAEDF5"/>
                          </a:solidFill>
                          <a:latin typeface="Noto Sans KR"/>
                        </a:rPr>
                        <a:t>$0.125</a:t>
                      </a:r>
                    </a:p>
                  </a:txBody>
                  <a:tcPr marL="90000" marR="90000" marT="30000" marB="30000" anchor="ctr">
                    <a:solidFill>
                      <a:srgbClr val="161A2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EAEDF5"/>
                          </a:solidFill>
                          <a:latin typeface="Noto Sans KR"/>
                        </a:rPr>
                        <a:t>입력의 1/10 (90% 할인)</a:t>
                      </a:r>
                    </a:p>
                  </a:txBody>
                  <a:tcPr marL="90000" marR="90000" marT="30000" marB="30000" anchor="ctr">
                    <a:solidFill>
                      <a:srgbClr val="161A2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897880" y="1508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9AA3B8"/>
                </a:solidFill>
                <a:latin typeface="Noto Sans KR"/>
              </a:rPr>
              <a:t>실행 1회 비용 (사용량 × 단가)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897880" y="1828800"/>
          <a:ext cx="578815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9156"/>
                <a:gridCol w="1504919"/>
                <a:gridCol w="1504919"/>
                <a:gridCol w="1389156"/>
              </a:tblGrid>
              <a:tr h="411480">
                <a:tc>
                  <a:txBody>
                    <a:bodyPr wrap="none"/>
                    <a:lstStyle/>
                    <a:p>
                      <a:pPr algn="l"/>
                      <a:r>
                        <a:rPr sz="1150" b="1">
                          <a:solidFill>
                            <a:srgbClr val="9AA3B8"/>
                          </a:solidFill>
                          <a:latin typeface="Noto Sans KR"/>
                        </a:rPr>
                        <a:t>항목</a:t>
                      </a:r>
                    </a:p>
                  </a:txBody>
                  <a:tcPr marL="90000" marR="90000" marT="30000" marB="30000" anchor="ctr">
                    <a:solidFill>
                      <a:srgbClr val="22283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1">
                          <a:solidFill>
                            <a:srgbClr val="9AA3B8"/>
                          </a:solidFill>
                          <a:latin typeface="Noto Sans KR"/>
                        </a:rPr>
                        <a:t>Vibe</a:t>
                      </a:r>
                    </a:p>
                  </a:txBody>
                  <a:tcPr marL="90000" marR="90000" marT="30000" marB="30000" anchor="ctr">
                    <a:solidFill>
                      <a:srgbClr val="22283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1">
                          <a:solidFill>
                            <a:srgbClr val="9AA3B8"/>
                          </a:solidFill>
                          <a:latin typeface="Noto Sans KR"/>
                        </a:rPr>
                        <a:t>Spec</a:t>
                      </a:r>
                    </a:p>
                  </a:txBody>
                  <a:tcPr marL="90000" marR="90000" marT="30000" marB="30000" anchor="ctr">
                    <a:solidFill>
                      <a:srgbClr val="22283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1">
                          <a:solidFill>
                            <a:srgbClr val="9AA3B8"/>
                          </a:solidFill>
                          <a:latin typeface="Noto Sans KR"/>
                        </a:rPr>
                        <a:t>차이</a:t>
                      </a:r>
                    </a:p>
                  </a:txBody>
                  <a:tcPr marL="90000" marR="90000" marT="30000" marB="30000" anchor="ctr">
                    <a:solidFill>
                      <a:srgbClr val="222838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l"/>
                      <a:r>
                        <a:rPr sz="1150" b="1">
                          <a:solidFill>
                            <a:srgbClr val="5AA7FF"/>
                          </a:solidFill>
                          <a:latin typeface="Noto Sans KR"/>
                        </a:rPr>
                        <a:t>입력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EAEDF5"/>
                          </a:solidFill>
                          <a:latin typeface="Noto Sans KR"/>
                        </a:rPr>
                        <a:t>$0.00061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EAEDF5"/>
                          </a:solidFill>
                          <a:latin typeface="Noto Sans KR"/>
                        </a:rPr>
                        <a:t>$0.00144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F5B85F"/>
                          </a:solidFill>
                          <a:latin typeface="Noto Sans KR"/>
                        </a:rPr>
                        <a:t>+$0.00083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l"/>
                      <a:r>
                        <a:rPr sz="1150" b="1">
                          <a:solidFill>
                            <a:srgbClr val="F5B85F"/>
                          </a:solidFill>
                          <a:latin typeface="Noto Sans KR"/>
                        </a:rPr>
                        <a:t>추론</a:t>
                      </a:r>
                    </a:p>
                  </a:txBody>
                  <a:tcPr marL="90000" marR="90000" marT="30000" marB="30000" anchor="ctr">
                    <a:solidFill>
                      <a:srgbClr val="161A2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EAEDF5"/>
                          </a:solidFill>
                          <a:latin typeface="Noto Sans KR"/>
                        </a:rPr>
                        <a:t>$0.01240</a:t>
                      </a:r>
                    </a:p>
                  </a:txBody>
                  <a:tcPr marL="90000" marR="90000" marT="30000" marB="30000" anchor="ctr">
                    <a:solidFill>
                      <a:srgbClr val="161A2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EAEDF5"/>
                          </a:solidFill>
                          <a:latin typeface="Noto Sans KR"/>
                        </a:rPr>
                        <a:t>$0.00980</a:t>
                      </a:r>
                    </a:p>
                  </a:txBody>
                  <a:tcPr marL="90000" marR="90000" marT="30000" marB="30000" anchor="ctr">
                    <a:solidFill>
                      <a:srgbClr val="161A2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3ECF8E"/>
                          </a:solidFill>
                          <a:latin typeface="Noto Sans KR"/>
                        </a:rPr>
                        <a:t>−$0.00260</a:t>
                      </a:r>
                    </a:p>
                  </a:txBody>
                  <a:tcPr marL="90000" marR="90000" marT="30000" marB="30000" anchor="ctr">
                    <a:solidFill>
                      <a:srgbClr val="161A25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l"/>
                      <a:r>
                        <a:rPr sz="1150" b="1">
                          <a:solidFill>
                            <a:srgbClr val="3ECF8E"/>
                          </a:solidFill>
                          <a:latin typeface="Noto Sans KR"/>
                        </a:rPr>
                        <a:t>출력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EAEDF5"/>
                          </a:solidFill>
                          <a:latin typeface="Noto Sans KR"/>
                        </a:rPr>
                        <a:t>$0.05830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EAEDF5"/>
                          </a:solidFill>
                          <a:latin typeface="Noto Sans KR"/>
                        </a:rPr>
                        <a:t>$0.05410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3ECF8E"/>
                          </a:solidFill>
                          <a:latin typeface="Noto Sans KR"/>
                        </a:rPr>
                        <a:t>−$0.00420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l"/>
                      <a:r>
                        <a:rPr sz="1150" b="1">
                          <a:solidFill>
                            <a:srgbClr val="4DD6C1"/>
                          </a:solidFill>
                          <a:latin typeface="Noto Sans KR"/>
                        </a:rPr>
                        <a:t>캐시</a:t>
                      </a:r>
                    </a:p>
                  </a:txBody>
                  <a:tcPr marL="90000" marR="90000" marT="30000" marB="30000" anchor="ctr">
                    <a:solidFill>
                      <a:srgbClr val="161A2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EAEDF5"/>
                          </a:solidFill>
                          <a:latin typeface="Noto Sans KR"/>
                        </a:rPr>
                        <a:t>$0.00004</a:t>
                      </a:r>
                    </a:p>
                  </a:txBody>
                  <a:tcPr marL="90000" marR="90000" marT="30000" marB="30000" anchor="ctr">
                    <a:solidFill>
                      <a:srgbClr val="161A2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EAEDF5"/>
                          </a:solidFill>
                          <a:latin typeface="Noto Sans KR"/>
                        </a:rPr>
                        <a:t>$0.00006</a:t>
                      </a:r>
                    </a:p>
                  </a:txBody>
                  <a:tcPr marL="90000" marR="90000" marT="30000" marB="30000" anchor="ctr">
                    <a:solidFill>
                      <a:srgbClr val="161A2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9AA3B8"/>
                          </a:solidFill>
                          <a:latin typeface="Noto Sans KR"/>
                        </a:rPr>
                        <a:t>+$0.00002</a:t>
                      </a:r>
                    </a:p>
                  </a:txBody>
                  <a:tcPr marL="90000" marR="90000" marT="30000" marB="30000" anchor="ctr">
                    <a:solidFill>
                      <a:srgbClr val="161A25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l"/>
                      <a:r>
                        <a:rPr sz="1150" b="1">
                          <a:solidFill>
                            <a:srgbClr val="EAEDF5"/>
                          </a:solidFill>
                          <a:latin typeface="Noto Sans KR"/>
                        </a:rPr>
                        <a:t>합계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1">
                          <a:solidFill>
                            <a:srgbClr val="EAEDF5"/>
                          </a:solidFill>
                          <a:latin typeface="Noto Sans KR"/>
                        </a:rPr>
                        <a:t>$0.07135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1">
                          <a:solidFill>
                            <a:srgbClr val="EAEDF5"/>
                          </a:solidFill>
                          <a:latin typeface="Noto Sans KR"/>
                        </a:rPr>
                        <a:t>$0.06540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1">
                          <a:solidFill>
                            <a:srgbClr val="3ECF8E"/>
                          </a:solidFill>
                          <a:latin typeface="Noto Sans KR"/>
                        </a:rPr>
                        <a:t>−8.3%</a:t>
                      </a:r>
                    </a:p>
                  </a:txBody>
                  <a:tcPr marL="90000" marR="90000" marT="30000" marB="30000" anchor="ctr">
                    <a:solidFill>
                      <a:srgbClr val="1A1F2B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l"/>
                      <a:r>
                        <a:rPr sz="1150" b="0">
                          <a:solidFill>
                            <a:srgbClr val="9AA3B8"/>
                          </a:solidFill>
                          <a:latin typeface="Noto Sans KR"/>
                        </a:rPr>
                        <a:t>원화 (₩1,390)</a:t>
                      </a:r>
                    </a:p>
                  </a:txBody>
                  <a:tcPr marL="90000" marR="90000" marT="30000" marB="30000" anchor="ctr">
                    <a:solidFill>
                      <a:srgbClr val="161A2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EAEDF5"/>
                          </a:solidFill>
                          <a:latin typeface="Noto Sans KR"/>
                        </a:rPr>
                        <a:t>₩99.2</a:t>
                      </a:r>
                    </a:p>
                  </a:txBody>
                  <a:tcPr marL="90000" marR="90000" marT="30000" marB="30000" anchor="ctr">
                    <a:solidFill>
                      <a:srgbClr val="161A2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>
                          <a:solidFill>
                            <a:srgbClr val="EAEDF5"/>
                          </a:solidFill>
                          <a:latin typeface="Noto Sans KR"/>
                        </a:rPr>
                        <a:t>₩90.9</a:t>
                      </a:r>
                    </a:p>
                  </a:txBody>
                  <a:tcPr marL="90000" marR="90000" marT="30000" marB="30000" anchor="ctr">
                    <a:solidFill>
                      <a:srgbClr val="161A2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1">
                          <a:solidFill>
                            <a:srgbClr val="3ECF8E"/>
                          </a:solidFill>
                          <a:latin typeface="Noto Sans KR"/>
                        </a:rPr>
                        <a:t>−₩8.3</a:t>
                      </a:r>
                    </a:p>
                  </a:txBody>
                  <a:tcPr marL="90000" marR="90000" marT="30000" marB="30000" anchor="ctr">
                    <a:solidFill>
                      <a:srgbClr val="161A2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44348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9AA3B8"/>
                </a:solidFill>
                <a:latin typeface="Noto Sans KR"/>
              </a:rPr>
              <a:t>비용 구성비 (Vibe 기준) — 어디에 돈이 드는가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754880"/>
            <a:ext cx="9138155" cy="502920"/>
          </a:xfrm>
          <a:prstGeom prst="rect">
            <a:avLst/>
          </a:prstGeom>
          <a:solidFill>
            <a:srgbClr val="3EC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118"/>
                </a:solidFill>
                <a:latin typeface="Noto Sans KR"/>
              </a:rPr>
              <a:t>출력 81.7%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41075" y="4754880"/>
            <a:ext cx="1943621" cy="502920"/>
          </a:xfrm>
          <a:prstGeom prst="rect">
            <a:avLst/>
          </a:prstGeom>
          <a:solidFill>
            <a:srgbClr val="F5B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118"/>
                </a:solidFill>
                <a:latin typeface="Noto Sans KR"/>
              </a:rPr>
              <a:t>추론 17.4%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584696" y="4754880"/>
            <a:ext cx="95221" cy="502920"/>
          </a:xfrm>
          <a:prstGeom prst="rect">
            <a:avLst/>
          </a:prstGeom>
          <a:solidFill>
            <a:srgbClr val="5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79917" y="4754880"/>
            <a:ext cx="6115" cy="502920"/>
          </a:xfrm>
          <a:prstGeom prst="rect">
            <a:avLst/>
          </a:prstGeom>
          <a:solidFill>
            <a:srgbClr val="4DD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440680"/>
            <a:ext cx="11183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AA3B8"/>
                </a:solidFill>
                <a:latin typeface="Noto Sans KR"/>
              </a:rPr>
              <a:t>입력 0.9% · 캐시 0.05% — </a:t>
            </a:r>
            <a:r>
              <a:rPr sz="1250" b="1">
                <a:solidFill>
                  <a:srgbClr val="EAEDF5"/>
                </a:solidFill>
                <a:latin typeface="Noto Sans KR"/>
              </a:rPr>
              <a:t>비용의 99%가 추론+출력에서 발생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897880"/>
            <a:ext cx="11183112" cy="548640"/>
          </a:xfrm>
          <a:prstGeom prst="roundRect">
            <a:avLst>
              <a:gd name="adj" fmla="val 10000"/>
            </a:avLst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998464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EDF5"/>
                </a:solidFill>
                <a:latin typeface="Noto Sans KR"/>
              </a:rPr>
              <a:t>입력:출력 단가비 1:8 → 싼 토큰(입력)을 더 쓰고 비싼 토큰(추론·출력)을 아낀 Spec이 총비용 승리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DD6C1"/>
                </a:solidFill>
                <a:latin typeface="Noto Sans KR"/>
              </a:rP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DF5"/>
                </a:solidFill>
                <a:latin typeface="Noto Sans KR"/>
              </a:rPr>
              <a:t>이 결과가 의미하는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9AA3B8"/>
                </a:solidFill>
                <a:latin typeface="Noto Sans KR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83112" cy="20320"/>
          </a:xfrm>
          <a:prstGeom prst="rect">
            <a:avLst/>
          </a:prstGeom>
          <a:solidFill>
            <a:srgbClr val="32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5486400" cy="224028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 w="12700">
            <a:solidFill>
              <a:srgbClr val="32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82296" cy="2240280"/>
          </a:xfrm>
          <a:prstGeom prst="rect">
            <a:avLst/>
          </a:prstGeom>
          <a:solidFill>
            <a:srgbClr val="B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0136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B08CFF"/>
                </a:solidFill>
                <a:latin typeface="Noto Sans KR"/>
              </a:rPr>
              <a:t>① 스펙은 추론의 대체재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58568"/>
            <a:ext cx="48920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3B8"/>
                </a:solidFill>
                <a:latin typeface="Noto Sans KR"/>
              </a:rPr>
              <a:t>사람이 스펙에 쓴 1글자는 모델이 고민할 추론 토큰을 줄인다. 설계 판단을 프롬프트로 옮기면 비용 구조가 “비싼 추론($10/M)”에서 “싼 입력($1.25/M)”으로 재배치된다.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00200"/>
            <a:ext cx="5486400" cy="224028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 w="12700">
            <a:solidFill>
              <a:srgbClr val="32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600200"/>
            <a:ext cx="82296" cy="2240280"/>
          </a:xfrm>
          <a:prstGeom prst="rect">
            <a:avLst/>
          </a:prstGeom>
          <a:solidFill>
            <a:srgbClr val="3EC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80136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3ECF8E"/>
                </a:solidFill>
                <a:latin typeface="Noto Sans KR"/>
              </a:rPr>
              <a:t>② 비용 최적화 = 출력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258568"/>
            <a:ext cx="48920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3B8"/>
                </a:solidFill>
                <a:latin typeface="Noto Sans KR"/>
              </a:rPr>
              <a:t>비용의 99%가 추론+출력. 프롬프트를 아끼는 절약은 무의미하다. 정확한 스펙으로 재생성(retry)을 없애는 것이 최고의 절감책 — 재생성 1회(≈$0.065)는 스펙 작성 수십 회분의 입력 비용과 맞먹는다.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023360"/>
            <a:ext cx="5486400" cy="224028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 w="12700">
            <a:solidFill>
              <a:srgbClr val="32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023360"/>
            <a:ext cx="82296" cy="2240280"/>
          </a:xfrm>
          <a:prstGeom prst="rect">
            <a:avLst/>
          </a:prstGeom>
          <a:solidFill>
            <a:srgbClr val="4DD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245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4DD6C1"/>
                </a:solidFill>
                <a:latin typeface="Noto Sans KR"/>
              </a:rPr>
              <a:t>③ 캐시는 공짜에 가깝다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81728"/>
            <a:ext cx="48920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3B8"/>
                </a:solidFill>
                <a:latin typeface="Noto Sans KR"/>
              </a:rPr>
              <a:t>캐시 읽기는 입력의 1/10($0.125/M), 전체 비용의 0.05%. 반복 세션에서 시스템 프롬프트·디자인 토큰·스펙을 캐시에 태우면 입력 비용 90% 절감. 아낄 이유가 없는 유일한 토큰.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4023360"/>
            <a:ext cx="5486400" cy="224028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 w="12700">
            <a:solidFill>
              <a:srgbClr val="32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4023360"/>
            <a:ext cx="82296" cy="2240280"/>
          </a:xfrm>
          <a:prstGeom prst="rect">
            <a:avLst/>
          </a:prstGeom>
          <a:solidFill>
            <a:srgbClr val="4DD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42245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4DD6C1"/>
                </a:solidFill>
                <a:latin typeface="Noto Sans KR"/>
              </a:rPr>
              <a:t>④ 결정성은 흑자다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4681728"/>
            <a:ext cx="48920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3B8"/>
                </a:solidFill>
                <a:latin typeface="Noto Sans KR"/>
              </a:rPr>
              <a:t>Spec 모드는 토큰 +1.8%를 쓰고 비용 −8.3%를 얻었다. 덤으로 AC 검증 16/16, 재현 가능성, 팀 핸드오프 가능성까지. “결정적 스펙의 비용”은 존재하지 않았다 — 오히려 이익이었다.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DD6C1"/>
                </a:solidFill>
                <a:latin typeface="Noto Sans KR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DF5"/>
                </a:solidFill>
                <a:latin typeface="Noto Sans KR"/>
              </a:rPr>
              <a:t>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9AA3B8"/>
                </a:solidFill>
                <a:latin typeface="Noto Sans KR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83112" cy="20320"/>
          </a:xfrm>
          <a:prstGeom prst="rect">
            <a:avLst/>
          </a:prstGeom>
          <a:solidFill>
            <a:srgbClr val="32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83112" cy="137160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 w="12700">
            <a:solidFill>
              <a:srgbClr val="4DD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EAEDF5"/>
                </a:solidFill>
                <a:latin typeface="Noto Sans KR"/>
              </a:rPr>
              <a:t>“결정적 스펙은 비용이 아니라 흑자다.”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AA3B8"/>
                </a:solidFill>
                <a:latin typeface="Noto Sans KR"/>
              </a:rPr>
              <a:t>입력 2.4배 증가에도 총비용 −8.3% · 검증 16/16 PASS · 재현 가능한 산출물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375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DD6C1"/>
                </a:solidFill>
                <a:latin typeface="Noto Sans KR"/>
              </a:rPr>
              <a:t>권장 워크플로우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70332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2700">
            <a:solidFill>
              <a:srgbClr val="B0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8620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B08CFF"/>
                </a:solidFill>
                <a:latin typeface="Noto Sans KR"/>
              </a:rPr>
              <a:t>1. Vibe로 탐색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3154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9AA3B8"/>
                </a:solidFill>
                <a:latin typeface="Noto Sans KR"/>
              </a:rPr>
              <a:t>빠르게 시안 생성.
재량 디테일에서 아이디어 얻기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703320"/>
            <a:ext cx="32004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9AA3B8"/>
                </a:solidFill>
                <a:latin typeface="Noto Sans KR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70332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2700">
            <a:solidFill>
              <a:srgbClr val="F5B8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88620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B85F"/>
                </a:solidFill>
                <a:latin typeface="Noto Sans KR"/>
              </a:rPr>
              <a:t>2. 스펙으로 역산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297680"/>
            <a:ext cx="3154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9AA3B8"/>
                </a:solidFill>
                <a:latin typeface="Noto Sans KR"/>
              </a:rPr>
              <a:t>마음에 든 결과에서
pages·stack·design·AC 추출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703320"/>
            <a:ext cx="32004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9AA3B8"/>
                </a:solidFill>
                <a:latin typeface="Noto Sans KR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370332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2700">
            <a:solidFill>
              <a:srgbClr val="4DD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88620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4DD6C1"/>
                </a:solidFill>
                <a:latin typeface="Noto Sans KR"/>
              </a:rPr>
              <a:t>3. Spec으로 고정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297680"/>
            <a:ext cx="3154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9AA3B8"/>
                </a:solidFill>
                <a:latin typeface="Noto Sans KR"/>
              </a:rPr>
              <a:t>결정적 재구현 + AC 자동검증.
반복·협업·핸드오프 가능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440680"/>
            <a:ext cx="11183112" cy="960120"/>
          </a:xfrm>
          <a:prstGeom prst="roundRect">
            <a:avLst>
              <a:gd name="adj" fmla="val 8000"/>
            </a:avLst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596128"/>
            <a:ext cx="22366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9AA3B8"/>
                </a:solidFill>
                <a:latin typeface="Noto Sans KR"/>
              </a:rPr>
              <a:t>Vibe 비용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870448"/>
            <a:ext cx="223662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B08CFF"/>
                </a:solidFill>
                <a:latin typeface="Noto Sans KR"/>
              </a:rPr>
              <a:t>$0.0713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39542" y="5596128"/>
            <a:ext cx="22366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9AA3B8"/>
                </a:solidFill>
                <a:latin typeface="Noto Sans KR"/>
              </a:rPr>
              <a:t>Spec 비용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39542" y="5870448"/>
            <a:ext cx="223662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4DD6C1"/>
                </a:solidFill>
                <a:latin typeface="Noto Sans KR"/>
              </a:rPr>
              <a:t>$0.0654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76164" y="5596128"/>
            <a:ext cx="22366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9AA3B8"/>
                </a:solidFill>
                <a:latin typeface="Noto Sans KR"/>
              </a:rPr>
              <a:t>절감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76164" y="5870448"/>
            <a:ext cx="223662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ECF8E"/>
                </a:solidFill>
                <a:latin typeface="Noto Sans KR"/>
              </a:rPr>
              <a:t>−8.3%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12787" y="5596128"/>
            <a:ext cx="22366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9AA3B8"/>
                </a:solidFill>
                <a:latin typeface="Noto Sans KR"/>
              </a:rPr>
              <a:t>검증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12787" y="5870448"/>
            <a:ext cx="223662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ECF8E"/>
                </a:solidFill>
                <a:latin typeface="Noto Sans KR"/>
              </a:rPr>
              <a:t>16/16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9409" y="5596128"/>
            <a:ext cx="22366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9AA3B8"/>
                </a:solidFill>
                <a:latin typeface="Noto Sans KR"/>
              </a:rPr>
              <a:t>토큰 계 (2회)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49409" y="5870448"/>
            <a:ext cx="223662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EAEDF5"/>
                </a:solidFill>
                <a:latin typeface="Noto Sans KR"/>
              </a:rPr>
              <a:t>15,878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