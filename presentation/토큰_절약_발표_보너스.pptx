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BONUS TRACK  ·  심화 세션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견적서의 나머지 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원칙 4개로 못 줄인 비용은 어디 있나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114800"/>
            <a:ext cx="1463040" cy="4572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캐싱 · 에이전트 루프 · SDD · 라우팅 · 배치 · 압축 — 그리고 240배 실측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본편이 “무엇을 시킬까”였다면, 보너스는 “어디서 돌릴까”다. 같은 요청도 실행 위치를 바꾸면 요금이 바뀐다.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350" b="0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본편 22장을 먼저 보고 오세요. 이 덱은 그 위에 쌓는 레버 모음입니다.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토큰 비용 최적화 네트워크 세션 · 보너스 트랙 · github.com/giyeop-cody/token-cost-lab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BONUS 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보너스 ⑤ 프롬프트 캐싱 — 입력 자리를 더 싸게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6035040" cy="45720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56815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제공사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1956815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캐시 읽기 단가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195681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331720"/>
            <a:ext cx="6035040" cy="45720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414015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Anthropic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2414015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0.10× (90% 할인)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41401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명시적 marker, write 1.25×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871215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1136" y="2871215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0.50× (50% 할인)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87121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자동, 1,024토큰 이상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246120"/>
            <a:ext cx="6035040" cy="457200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328415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Google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31136" y="3328415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0.25× (75% 할인)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332841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implicit / explicit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3785615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DeepSeek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1136" y="3785615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0.10× (90% 할인)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378561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95160" y="1874519"/>
            <a:ext cx="4526280" cy="30175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95160" y="1874519"/>
            <a:ext cx="50292" cy="30175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06056" y="2112263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실측 시뮬레이션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6056" y="2651760"/>
            <a:ext cx="3977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고정 컨텍스트 20K + 가변 1K,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출력 1.5K, 100회 호출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없음:  $8.55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적용:  $3.22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→ 62% 절감 (품질 변화 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9204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전제 조건: 고정 컨텍스트를 프롬프트 “앞쪽”에 두고 순서를 바꾸지 말 것.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5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시스템 프롬프트 → 툴 정의 → 레포 맵 → 스펙 → (여기까지 캐시) → 가변 질문. 앞부분이 1바이트라도 바뀌면 캐시 전체가 무효화된다.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실사례: 캐시 히트율 7% → 84% 개선으로 총 LLM 지출 59~70% 감소 (ProjectDiscovery).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BONUS 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캐싱 심화 — 히트율 계단과 안티패턴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594360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56815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캐시 히트율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1956815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100콜 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8616" y="1956815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캐시 미사용 대비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58568"/>
            <a:ext cx="594360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340863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캐시 미사용 (기준)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2340863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$8.55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8616" y="2340863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724911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0% — 켰는데 매번 미스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2724911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$10.05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8616" y="272491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+18%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26663"/>
            <a:ext cx="594360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108959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8376" y="3108959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$7.32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8616" y="3108959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-14%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3493007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8376" y="3493007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$4.59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8616" y="3493007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-46%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794759"/>
            <a:ext cx="594360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3877055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95%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8376" y="3877055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$3.56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8616" y="3877055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-58%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" y="4261104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100% (이론 상한)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08376" y="4261104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$3.22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8616" y="426110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-62%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1874519"/>
            <a:ext cx="4526280" cy="1874519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95160" y="1874519"/>
            <a:ext cx="50292" cy="1874519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06056" y="2112263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손익분기: 0.28회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6056" y="2651760"/>
            <a:ext cx="397764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쓰기는 1.25배 비싸지만, 같은 프리픽스를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한 번만 더 재사용해도 즉시 이득이다.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“재사용이 적어서 안 쓴다”는 거의 항상 오판.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95160" y="3977639"/>
            <a:ext cx="4526280" cy="219456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95160" y="3977639"/>
            <a:ext cx="50292" cy="219456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06056" y="4215383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최악의 안티패턴 = 3.1배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06056" y="4754879"/>
            <a:ext cx="3977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맨 앞에 타임스탬프·요청 ID·“현재 시각”을 넣으면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매 호출 캐시가 전부 깨진다. 쓰기 프리미엄만 물어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캐시를 아예 안 쓴 것보다 18% 비싸진다.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캐시 최적 $3.22 → 안티패턴 $10.05 = 3.1배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89204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→ 리포의 exp07 진단기가 이 동적값을 자동으로 잡아준다.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exp03_prompt_caching.py (프리픽스 20K · 가변 1K · 출력 1.5K · 100콜, Sonnet 단가)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BONUS 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에이전트 루프 — 비용은 선형이 아니라 2차 함수다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매 턴 전체 대화가 다시 입력으로 들어간다. 턴이 2배면 비용은 약 3배가 된다 (10→20턴 3.1배).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5760720" cy="438912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32257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세션 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4056" y="232257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누적 비용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32257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증가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79192"/>
            <a:ext cx="5760720" cy="43891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76148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5턴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276148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76148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3200400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10턴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4056" y="3200400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3200400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2.8×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557016"/>
            <a:ext cx="5760720" cy="43891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3639312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4056" y="3639312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$2.32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3639312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3.1×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078224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30턴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4056" y="4078224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$4.73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4078224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2.0×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434840"/>
            <a:ext cx="5760720" cy="438912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451713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50턴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451713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$12.09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4296" y="451713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2.6×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2280" y="2240280"/>
            <a:ext cx="4754880" cy="329184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2280" y="2240280"/>
            <a:ext cx="50292" cy="329184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3176" y="247802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20턴 세션, 전략별 비용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3176" y="301752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무대책                        $2.32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캐싱만                        $1.88   (-19%)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캐싱 + 10턴마다 컴팩션   $1.31   (-44%)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캐싱 + 5턴마다 컴팩션    $0.97   (-58%)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컴팩션 = 오래된 툴 결과·중간 로그를 요약으로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교체하는 것. 100턴 평가에서 84% 절감 보고.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44068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실무 규칙: 작업이 끝나면 대화를 끊어라. “하나의 대화로 종일”이 가장 비싼 습관이다.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Anthropic: 에이전트는 챗 대비 4배, 멀티에이전트는 15배 토큰을 쓴다. 에이전트 지출의 99% 이상이 입력 토큰이다.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exp04_agent_loop_sdd.py (프리픽스 8K · 턴당 입력 2K / 출력 0.8K, Sonnet 단가)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스펙 주도 개발(SDD)은 조건부로만 참이다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49240" cy="30175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0292" cy="30175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12263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유리한 쪽 — 자체 시뮬레이션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651760"/>
            <a:ext cx="4800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vibe 코딩 40턴                        $1.75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규약 파일 적용                        $1.09  (-38%)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SDD (스펙 4K + 12턴)               $0.51  (-71%)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스펙이 턴 수를 줄이면, 2차 함수 구간 자체가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잘려 나가기 때문에 절감폭이 크게 나온다.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74519"/>
            <a:ext cx="5212080" cy="301752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0292" cy="30175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11226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불리한 쪽 — 외부 반증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651760"/>
            <a:ext cx="46634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Spec-Kit은 OpenSpec 대비 토큰 +97~109%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(57,740 → 120,947 / 91,729 → 181,040).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무거운 SDD 프레임워크는 오히려 비용을 늘린다.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ETH Zurich (138 이슈, 4개 모델): LLM이 생성한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3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컨텍스트 파일은 성공률 소폭 하락 + 비용 20%↑.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6636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결론: “스펙을 쓰라”가 아니라 “가볍게, 결정 중심으로 쓰라”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5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엔드포인트·스키마·에러·완료조건처럼 모델이 추측하면 틀리는 것만 적는다. 코드를 읽으면 아는 것은 스펙에도 쓰지 않는다.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exp04 · 반증 출처: Spec-Kit vs OpenSpec 벤치마크(2026), ETH Zurich 컨텍스트 파일 연구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BONUS 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나머지 레버 4종 — 언제 쓰고, 언제 쓰지 말 것인가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0881360" cy="9875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45720" cy="98755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배치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408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입력·출력 정액 50% 할인. 캐싱과 중복 적용 가능.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5681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○  야간 평가·벌크 분류·리포트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591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956816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✕  SLA 24시간. 사용자 대면 채팅·툴 루프 불가.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26080"/>
            <a:ext cx="10881360" cy="9875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926080"/>
            <a:ext cx="45720" cy="987552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시맨틱 캐싱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4381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유사 질문을 임베딩으로 매칭해 호출 자체를 제거.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5409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○  FAQ·고객지원·반복 질의 (히트율 20~45%)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4564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054096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✕  벤더의 95% 주장은 과장. 임계값 0.8 권장.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23360"/>
            <a:ext cx="10881360" cy="987552"/>
          </a:xfrm>
          <a:prstGeom prst="roundRect">
            <a:avLst>
              <a:gd name="adj" fmla="val 5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023360"/>
            <a:ext cx="45720" cy="987552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14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모델 라우팅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354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쉬운 요청은 소형 모델로. RouteLLM 85%↓ @ 품질 95%.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15137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○  분류·추출·요약 등 난이도 편차 큰 트래픽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55371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151376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✕  벤치마크 임계값 그대로 쓰면 과대추정. 재보정 필수.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120640"/>
            <a:ext cx="10881360" cy="987552"/>
          </a:xfrm>
          <a:prstGeom prst="roundRect">
            <a:avLst>
              <a:gd name="adj" fmla="val 5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5120640"/>
            <a:ext cx="45720" cy="9875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21207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프롬프트 압축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6327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LLMLingua 최대 20× 압축, 손실 2% 미만.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248655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○  RAG 컨텍스트·장황한 시스템 프롬프트·few-shot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65099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248655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✕  코드·수식·짧은 쿼리에는 쓰지 말 것.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2636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exp06_other_levers.py  ·  출처: OpenAI/Anthropic Batch 문서, RouteLLM(ICLR 2025), LLMLingua(MS Research), AWS 시맨틱 캐싱 사례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레버는 곱해진다 — 스택 적층 시뮬레이션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각 레버는 “앞 단계가 걸러낸 나머지”에 적용된다. 그래서 30% + 50%는 80%가 아니라 65%다.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10881360" cy="493776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2404872"/>
            <a:ext cx="4937760" cy="256032"/>
          </a:xfrm>
          <a:prstGeom prst="rect">
            <a:avLst/>
          </a:prstGeom>
          <a:solidFill>
            <a:srgbClr val="93A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시작 — 무대책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3865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4048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52928"/>
            <a:ext cx="10881360" cy="493776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2971800"/>
            <a:ext cx="3456432" cy="256032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535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① 시맨틱 캐싱 (호출 30% 제거)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953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971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-30%p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19856"/>
            <a:ext cx="10881360" cy="493776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538728"/>
            <a:ext cx="2073859" cy="256032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20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② 모델 라우팅 (쉬운 건 소형으로)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520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9CFF"/>
                </a:solidFill>
                <a:latin typeface="맑은 고딕"/>
                <a:ea typeface="맑은 고딕"/>
                <a:cs typeface="맑은 고딕"/>
              </a:rPr>
              <a:t>42%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5387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-28%p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86783"/>
            <a:ext cx="10881360" cy="493776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105655"/>
            <a:ext cx="1036929" cy="25603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87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③ 프롬프트 캐싱 (프리픽스 재사용)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0873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21%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10565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-21%p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553712"/>
            <a:ext cx="10881360" cy="493776"/>
          </a:xfrm>
          <a:prstGeom prst="roundRect">
            <a:avLst>
              <a:gd name="adj" fmla="val 4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60520" y="4672584"/>
            <a:ext cx="790041" cy="25603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65429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④ verbosity / effort 조정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65429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6725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-5%p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120640"/>
            <a:ext cx="10881360" cy="493776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60520" y="5239512"/>
            <a:ext cx="691286" cy="256032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22122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⑤ 배치 API (비대면 트래픽만)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2212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14%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239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-2%p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8064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누적 86% 절감 — 업계 보고치 60~80%의 상한선에 해당한다. 전부 적용했을 때의 이론값으로 읽을 것.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현실적 목표: 상위 2~3개만 제대로 해도 50~65%. 8개를 어설프게 하는 것보다 낫다.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LIVE MEASUREMENT · N=30 · 2026-08-15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같은 정답률, 240배 요금 — 30회 실측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같은 계산 문제 30회. 사고 예산만 변경. 정답 $38.016 · 오른쪽 열은 6회 중 정답 횟수.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10881360" cy="402336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27685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사고 예산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6" y="2276856"/>
            <a:ext cx="365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227685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사고 토큰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2276856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응답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2276856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비용/호출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3176" y="2276856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배수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276856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정답률 (±0.05)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596896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679191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미지정(기본)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2616" y="2679191"/>
            <a:ext cx="365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1256" y="2679191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5" y="2679191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2679191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$0.000155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2679191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1.0×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679191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정답 6/6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3081527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끔 (0)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42616" y="3081527"/>
            <a:ext cx="365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1256" y="3081527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5" y="3081527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1536" y="3081527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$0.000158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6" y="3081527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1.0×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3081527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정답 5/6  (1회 380.16)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401568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3483863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512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2616" y="3483863"/>
            <a:ext cx="365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91256" y="3483863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62855" y="3483863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1536" y="3483863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$0.001570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3176" y="3483863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10.1×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1896" y="3483863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정답 2/6  ← 품질 붕괴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886200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2048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42616" y="3886200"/>
            <a:ext cx="365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91256" y="3886200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1,114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2855" y="3886200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31536" y="3886200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$0.011302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23176" y="3886200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B04D"/>
                </a:solidFill>
                <a:latin typeface="맑은 고딕"/>
                <a:ea typeface="맑은 고딕"/>
                <a:cs typeface="맑은 고딕"/>
              </a:rPr>
              <a:t>72.9×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1896" y="3886200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정답 6/6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4206240"/>
            <a:ext cx="10881360" cy="402336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" y="4288536"/>
            <a:ext cx="1645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자동 (−1)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42616" y="4288536"/>
            <a:ext cx="365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91256" y="428853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3,704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62855" y="4288536"/>
            <a:ext cx="685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31536" y="4288536"/>
            <a:ext cx="1508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$0.037203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23176" y="4288536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240×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1896" y="4288536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정답 6/6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45902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사고를 끄든 켜든 정답률은 6/6으로 같습니다. 요금만 240배 차이납니다.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" y="4956048"/>
            <a:ext cx="5349240" cy="1389888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" y="4956048"/>
            <a:ext cx="50292" cy="138988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6696" y="519379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출력 토큰의 99%가 보이지 않는다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696" y="5733288"/>
            <a:ext cx="4800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사고가 켜진 구간에서 과금 출력의 99%가 thoughtsTokenCount다 (실측 99.6%).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4956048"/>
            <a:ext cx="5349240" cy="1389888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4956048"/>
            <a:ext cx="50292" cy="1389888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28816" y="519379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예산 512는 정답률이 2/6으로 떨어졌다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28816" y="5733288"/>
            <a:ext cx="4800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어중간한 예산은 추론이 끊겨 품질까지 나빠진다. 충분히 주거나 아예 끌 것.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재현: tools/thinking_sweep.py --n 6 · 원자료 results/thinking_sweep.jsonl · LIVE_RESULTS.md §8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BONUS ·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용어부터 — 라우팅 · 리워크 · 워크플로우 컨트롤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셋은 자주 섞여 쓰이지만, 줄이는 비용의 종류가 다르다. 섞으면 처방도 섞인다.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12848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12848"/>
            <a:ext cx="50292" cy="2286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450591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① 라우팅 (Routing)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990088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질문: “이 요청을 어느 모델에 보낼까?”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단위: 요청 1건.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줄이는 것: 과잉 스펙 모델에 쓰는 단가.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효과: −49~84% (exp06).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212848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212848"/>
            <a:ext cx="50292" cy="2286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2450591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② 리워크 (Rework)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990088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질문: “왜 같은 걸 다시 시켰나?”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단위: 턴의 반복 횟수.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줄이는 것: 실패한 시도의 재생성.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효과: 48턴 리워크 = 16.6배 (exp09-C).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212848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2212848"/>
            <a:ext cx="50292" cy="228600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450591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③ 워크플로우 컨트롤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990088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질문: “이 일을 어떤 순서·형태로 돌릴까?”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단위: 작업 파이프라인 전체.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줄이는 것: 단계 배치의 낭비.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②와 ①을 포함하는 상위 개념.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오늘 다루는 것은 ③ 워크플로우 컨트롤이다 — 라우팅은 그 안의 한 수단이다.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“작은 모델로 컨트롤한다”는 것은 값싼 모델이 지휘자를 맡고, 비싼 모델은 꼭 필요한 구간에만 호출되는 구조를 뜻한다. 리워크 감소는 그 결과로 따라온다.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이 구분은 후속 세션(에이전트 셋팅)의 전제다. 세 가지를 한 단어로 부르면 처방이 뒤섞인다.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BONUS · 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배치 처리 — “24시간”은 상한이지 예정 시각이 아니다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1371600" cy="41148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6858000" cy="384048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56815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제공자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5496" y="1956815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할인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9896" y="1956815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공식 표현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5" y="1956815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실무 관찰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258568"/>
            <a:ext cx="685800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340863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OpenAI Batch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5496" y="2340863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2340863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24h 내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5" y="2340863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수 분~2h 흔함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724911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Gemini 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5496" y="272491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9896" y="2724911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목표 24h, 대개 더 빠름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5" y="2724911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작은 잡은 즉시급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26663"/>
            <a:ext cx="6858000" cy="384048"/>
          </a:xfrm>
          <a:prstGeom prst="rect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108959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Anthropic Batch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496" y="3108959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9896" y="3108959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대부분 1h 미만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4455" y="3108959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캐싱과 중첩 가능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3493007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xAI Batch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5496" y="3493007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9896" y="3493007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대개 24h 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34455" y="3493007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베스트 에포트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1874519"/>
            <a:ext cx="3703320" cy="2880360"/>
          </a:xfrm>
          <a:prstGeom prst="roundRect">
            <a:avLst>
              <a:gd name="adj" fmla="val 6000"/>
            </a:avLst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18120" y="1874519"/>
            <a:ext cx="50292" cy="2880360"/>
          </a:xfrm>
          <a:prstGeom prst="rect">
            <a:avLst/>
          </a:prstGeom>
          <a:solidFill>
            <a:srgbClr val="FFB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9016" y="2112263"/>
            <a:ext cx="3154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CF1F6"/>
                </a:solidFill>
                <a:latin typeface="맑은 고딕"/>
                <a:ea typeface="맑은 고딕"/>
                <a:cs typeface="맑은 고딕"/>
              </a:rPr>
              <a:t>그러나 — 실패 모드가 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9016" y="2651760"/>
            <a:ext cx="3154679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2025년 초 OpenAI 배치 지연 사례: 평소 1~2h → 24h 근접, 만료(expired) 비율이 0%대에서 25%↑로 급증한 기간이 보고됨.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즉 “보통 10분”은 평균이지 보장이 아니다. 마감이 있는 작업에 배치를 쓰려면 폴백 경로가 필요하다.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8920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36D399"/>
                </a:solidFill>
                <a:latin typeface="맑은 고딕"/>
                <a:ea typeface="맑은 고딕"/>
                <a:cs typeface="맑은 고딕"/>
              </a:rPr>
              <a:t>규칙: 배치는 “늦어도 되는 일”에만. 늦으면 곤란한 일은 동기 호출로 폴백.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4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적합: 자료조사 · 정규화 · 라벨링 · 임베딩 · 평가 — 사람이 기다리지 않는 작업.  부적합: 대화 턴 중간, 에이전트 루프 내부(앞 결과가 다음 요청의 입력인 경우).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4B5"/>
                </a:solidFill>
                <a:latin typeface="맑은 고딕"/>
                <a:ea typeface="맑은 고딕"/>
                <a:cs typeface="맑은 고딕"/>
              </a:rPr>
              <a:t>출처: OpenAI Batch 가이드 · Gemini Batch API 문서 · xAI Batch 문서 · OpenAI 커뮤니티 지연 보고(2025-02)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